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81"/>
  </p:notesMasterIdLst>
  <p:sldIdLst>
    <p:sldId id="383" r:id="rId2"/>
    <p:sldId id="256" r:id="rId3"/>
    <p:sldId id="268" r:id="rId4"/>
    <p:sldId id="347" r:id="rId5"/>
    <p:sldId id="348" r:id="rId6"/>
    <p:sldId id="344" r:id="rId7"/>
    <p:sldId id="345" r:id="rId8"/>
    <p:sldId id="346" r:id="rId9"/>
    <p:sldId id="271" r:id="rId10"/>
    <p:sldId id="379" r:id="rId11"/>
    <p:sldId id="351" r:id="rId12"/>
    <p:sldId id="380" r:id="rId13"/>
    <p:sldId id="350" r:id="rId14"/>
    <p:sldId id="381" r:id="rId15"/>
    <p:sldId id="277" r:id="rId16"/>
    <p:sldId id="352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90" r:id="rId25"/>
    <p:sldId id="285" r:id="rId26"/>
    <p:sldId id="319" r:id="rId27"/>
    <p:sldId id="374" r:id="rId28"/>
    <p:sldId id="320" r:id="rId29"/>
    <p:sldId id="323" r:id="rId30"/>
    <p:sldId id="291" r:id="rId31"/>
    <p:sldId id="324" r:id="rId32"/>
    <p:sldId id="353" r:id="rId33"/>
    <p:sldId id="325" r:id="rId34"/>
    <p:sldId id="354" r:id="rId35"/>
    <p:sldId id="326" r:id="rId36"/>
    <p:sldId id="355" r:id="rId37"/>
    <p:sldId id="327" r:id="rId38"/>
    <p:sldId id="356" r:id="rId39"/>
    <p:sldId id="328" r:id="rId40"/>
    <p:sldId id="357" r:id="rId41"/>
    <p:sldId id="329" r:id="rId42"/>
    <p:sldId id="376" r:id="rId43"/>
    <p:sldId id="286" r:id="rId44"/>
    <p:sldId id="330" r:id="rId45"/>
    <p:sldId id="358" r:id="rId46"/>
    <p:sldId id="331" r:id="rId47"/>
    <p:sldId id="359" r:id="rId48"/>
    <p:sldId id="332" r:id="rId49"/>
    <p:sldId id="360" r:id="rId50"/>
    <p:sldId id="287" r:id="rId51"/>
    <p:sldId id="378" r:id="rId52"/>
    <p:sldId id="333" r:id="rId53"/>
    <p:sldId id="334" r:id="rId54"/>
    <p:sldId id="361" r:id="rId55"/>
    <p:sldId id="335" r:id="rId56"/>
    <p:sldId id="362" r:id="rId57"/>
    <p:sldId id="336" r:id="rId58"/>
    <p:sldId id="363" r:id="rId59"/>
    <p:sldId id="337" r:id="rId60"/>
    <p:sldId id="364" r:id="rId61"/>
    <p:sldId id="338" r:id="rId62"/>
    <p:sldId id="365" r:id="rId63"/>
    <p:sldId id="339" r:id="rId64"/>
    <p:sldId id="366" r:id="rId65"/>
    <p:sldId id="340" r:id="rId66"/>
    <p:sldId id="367" r:id="rId67"/>
    <p:sldId id="341" r:id="rId68"/>
    <p:sldId id="368" r:id="rId69"/>
    <p:sldId id="342" r:id="rId70"/>
    <p:sldId id="369" r:id="rId71"/>
    <p:sldId id="343" r:id="rId72"/>
    <p:sldId id="384" r:id="rId73"/>
    <p:sldId id="304" r:id="rId74"/>
    <p:sldId id="305" r:id="rId75"/>
    <p:sldId id="312" r:id="rId76"/>
    <p:sldId id="313" r:id="rId77"/>
    <p:sldId id="314" r:id="rId78"/>
    <p:sldId id="316" r:id="rId79"/>
    <p:sldId id="382" r:id="rId80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00CCFF"/>
    <a:srgbClr val="0000CC"/>
    <a:srgbClr val="00FFFF"/>
    <a:srgbClr val="FFCCFF"/>
    <a:srgbClr val="FFFF00"/>
    <a:srgbClr val="FFFF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16" autoAdjust="0"/>
    <p:restoredTop sz="82222" autoAdjust="0"/>
  </p:normalViewPr>
  <p:slideViewPr>
    <p:cSldViewPr>
      <p:cViewPr varScale="1">
        <p:scale>
          <a:sx n="53" d="100"/>
          <a:sy n="53" d="100"/>
        </p:scale>
        <p:origin x="14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91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.xml"/><Relationship Id="rId1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ED998D74-F575-7CBC-1F5F-C560C0BD12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933E92BA-8AB2-25DB-BA07-00A22FFF923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3AD3047-63A5-4D5E-92D3-2B6728BDF59C}" type="datetimeFigureOut">
              <a:rPr lang="es-CO"/>
              <a:pPr>
                <a:defRPr/>
              </a:pPr>
              <a:t>16/07/2026</a:t>
            </a:fld>
            <a:endParaRPr lang="es-CO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91D2EC74-F42E-00B4-528E-DE2FC25464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F74326F8-DCB9-04C1-DC5B-0628473CE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CO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8687296F-1486-68F1-B2BB-18209D409E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02B44925-CA52-20AA-B97F-794B7B3BB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0526A56-E9CF-46DE-BCBD-2745069EF361}" type="slidenum">
              <a:rPr lang="es-CO" altLang="es-PE"/>
              <a:pPr/>
              <a:t>‹Nº›</a:t>
            </a:fld>
            <a:endParaRPr lang="es-CO" alt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1 Marcador de imagen de diapositiva">
            <a:extLst>
              <a:ext uri="{FF2B5EF4-FFF2-40B4-BE49-F238E27FC236}">
                <a16:creationId xmlns:a16="http://schemas.microsoft.com/office/drawing/2014/main" id="{5D21D4EE-7D72-AA9A-BCC1-AB46B91778C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2 Marcador de notas">
            <a:extLst>
              <a:ext uri="{FF2B5EF4-FFF2-40B4-BE49-F238E27FC236}">
                <a16:creationId xmlns:a16="http://schemas.microsoft.com/office/drawing/2014/main" id="{5B7DF6EB-4455-45A2-667A-7361BFC45E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PE"/>
          </a:p>
        </p:txBody>
      </p:sp>
      <p:sp>
        <p:nvSpPr>
          <p:cNvPr id="87044" name="3 Marcador de número de diapositiva">
            <a:extLst>
              <a:ext uri="{FF2B5EF4-FFF2-40B4-BE49-F238E27FC236}">
                <a16:creationId xmlns:a16="http://schemas.microsoft.com/office/drawing/2014/main" id="{BBC90161-564A-0BAC-B16B-C5E7DFD1F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70DE9F6-B874-4350-BB78-7CDDE67006EC}" type="slidenum">
              <a:rPr lang="es-CO" altLang="es-PE" sz="1200"/>
              <a:pPr eaLnBrk="1" hangingPunct="1"/>
              <a:t>23</a:t>
            </a:fld>
            <a:endParaRPr lang="es-CO" altLang="es-PE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2" name="29 Marcador de fecha">
            <a:extLst>
              <a:ext uri="{FF2B5EF4-FFF2-40B4-BE49-F238E27FC236}">
                <a16:creationId xmlns:a16="http://schemas.microsoft.com/office/drawing/2014/main" id="{C11D0E9A-42F1-4192-D7E2-2BE641E66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18 Marcador de pie de página">
            <a:extLst>
              <a:ext uri="{FF2B5EF4-FFF2-40B4-BE49-F238E27FC236}">
                <a16:creationId xmlns:a16="http://schemas.microsoft.com/office/drawing/2014/main" id="{C8DB67D9-0921-57E2-46F7-FE522843E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26 Marcador de número de diapositiva">
            <a:extLst>
              <a:ext uri="{FF2B5EF4-FFF2-40B4-BE49-F238E27FC236}">
                <a16:creationId xmlns:a16="http://schemas.microsoft.com/office/drawing/2014/main" id="{C39864E3-277E-FA04-17B5-84BC53600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6F081078-2768-4BF0-8BE1-E1E4E3BB5020}" type="slidenum">
              <a:rPr lang="es-ES" altLang="es-PE"/>
              <a:pPr/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33551020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9 Marcador de fecha">
            <a:extLst>
              <a:ext uri="{FF2B5EF4-FFF2-40B4-BE49-F238E27FC236}">
                <a16:creationId xmlns:a16="http://schemas.microsoft.com/office/drawing/2014/main" id="{AA78C386-F146-3260-8971-443DA8A9D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21 Marcador de pie de página">
            <a:extLst>
              <a:ext uri="{FF2B5EF4-FFF2-40B4-BE49-F238E27FC236}">
                <a16:creationId xmlns:a16="http://schemas.microsoft.com/office/drawing/2014/main" id="{4670014F-7209-3A3D-4510-CADBE715A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17 Marcador de número de diapositiva">
            <a:extLst>
              <a:ext uri="{FF2B5EF4-FFF2-40B4-BE49-F238E27FC236}">
                <a16:creationId xmlns:a16="http://schemas.microsoft.com/office/drawing/2014/main" id="{A4A574D9-5003-7762-2C37-0E9A2D741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7FC31F-B45C-4983-91BC-A4982C98CF16}" type="slidenum">
              <a:rPr lang="es-ES" altLang="es-PE"/>
              <a:pPr/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4025982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22BBA727-4DC3-2D9E-797E-10870B83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4655BCCB-A310-FD8E-9541-F31BE33F4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B174E005-8405-2855-10B7-33C72270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D85782F6-7251-4064-9253-FDB85DEA2CC6}" type="slidenum">
              <a:rPr lang="es-ES" altLang="es-PE"/>
              <a:pPr/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4136592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9 Marcador de fecha">
            <a:extLst>
              <a:ext uri="{FF2B5EF4-FFF2-40B4-BE49-F238E27FC236}">
                <a16:creationId xmlns:a16="http://schemas.microsoft.com/office/drawing/2014/main" id="{E140BD05-CED6-739B-915F-71B7F79C8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21 Marcador de pie de página">
            <a:extLst>
              <a:ext uri="{FF2B5EF4-FFF2-40B4-BE49-F238E27FC236}">
                <a16:creationId xmlns:a16="http://schemas.microsoft.com/office/drawing/2014/main" id="{8C499FB7-981D-D6DA-4048-47B0E25AE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17 Marcador de número de diapositiva">
            <a:extLst>
              <a:ext uri="{FF2B5EF4-FFF2-40B4-BE49-F238E27FC236}">
                <a16:creationId xmlns:a16="http://schemas.microsoft.com/office/drawing/2014/main" id="{6C18E7C3-488A-32C1-69F7-8118F262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3F929E-80AC-46FC-A943-987CFB53A130}" type="slidenum">
              <a:rPr lang="es-ES" altLang="es-PE"/>
              <a:pPr/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1696376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9 Marcador de fecha">
            <a:extLst>
              <a:ext uri="{FF2B5EF4-FFF2-40B4-BE49-F238E27FC236}">
                <a16:creationId xmlns:a16="http://schemas.microsoft.com/office/drawing/2014/main" id="{64FF21D4-D450-B1C9-7A08-348B1D7DC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21 Marcador de pie de página">
            <a:extLst>
              <a:ext uri="{FF2B5EF4-FFF2-40B4-BE49-F238E27FC236}">
                <a16:creationId xmlns:a16="http://schemas.microsoft.com/office/drawing/2014/main" id="{743F07C7-27BC-F581-0499-9C4EE43A2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17 Marcador de número de diapositiva">
            <a:extLst>
              <a:ext uri="{FF2B5EF4-FFF2-40B4-BE49-F238E27FC236}">
                <a16:creationId xmlns:a16="http://schemas.microsoft.com/office/drawing/2014/main" id="{EBEA6D8B-3698-5565-F29A-10F30F039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EEE75B-3ABB-4E12-9B91-4309A8B6DB20}" type="slidenum">
              <a:rPr lang="es-ES" altLang="es-PE"/>
              <a:pPr/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10302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9 Marcador de fecha">
            <a:extLst>
              <a:ext uri="{FF2B5EF4-FFF2-40B4-BE49-F238E27FC236}">
                <a16:creationId xmlns:a16="http://schemas.microsoft.com/office/drawing/2014/main" id="{66DCA1CF-0533-7F24-AF2D-7E7B153C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21 Marcador de pie de página">
            <a:extLst>
              <a:ext uri="{FF2B5EF4-FFF2-40B4-BE49-F238E27FC236}">
                <a16:creationId xmlns:a16="http://schemas.microsoft.com/office/drawing/2014/main" id="{FC4DA8DB-0ED7-8158-2C51-6DD7E5B0F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17 Marcador de número de diapositiva">
            <a:extLst>
              <a:ext uri="{FF2B5EF4-FFF2-40B4-BE49-F238E27FC236}">
                <a16:creationId xmlns:a16="http://schemas.microsoft.com/office/drawing/2014/main" id="{5B2F1105-88C2-A024-BE39-F2293DD5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236A7-E6A8-4BDC-8B32-AA7AD05C1CA2}" type="slidenum">
              <a:rPr lang="es-ES" altLang="es-PE"/>
              <a:pPr/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557639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 Marcador de fecha">
            <a:extLst>
              <a:ext uri="{FF2B5EF4-FFF2-40B4-BE49-F238E27FC236}">
                <a16:creationId xmlns:a16="http://schemas.microsoft.com/office/drawing/2014/main" id="{DB4D1ED2-D4A9-CFC8-766E-E4864728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1 Marcador de pie de página">
            <a:extLst>
              <a:ext uri="{FF2B5EF4-FFF2-40B4-BE49-F238E27FC236}">
                <a16:creationId xmlns:a16="http://schemas.microsoft.com/office/drawing/2014/main" id="{F4AD4AB0-7133-877C-7A28-C64F76CE3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17 Marcador de número de diapositiva">
            <a:extLst>
              <a:ext uri="{FF2B5EF4-FFF2-40B4-BE49-F238E27FC236}">
                <a16:creationId xmlns:a16="http://schemas.microsoft.com/office/drawing/2014/main" id="{0D6343A6-23B6-750A-B41C-258DBD001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415FA2-95B3-41DA-8C32-A58AA1C672A7}" type="slidenum">
              <a:rPr lang="es-ES" altLang="es-PE"/>
              <a:pPr/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3473504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9 Marcador de fecha">
            <a:extLst>
              <a:ext uri="{FF2B5EF4-FFF2-40B4-BE49-F238E27FC236}">
                <a16:creationId xmlns:a16="http://schemas.microsoft.com/office/drawing/2014/main" id="{7F0E31D6-FD44-E36A-DFC1-5E34CC858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21 Marcador de pie de página">
            <a:extLst>
              <a:ext uri="{FF2B5EF4-FFF2-40B4-BE49-F238E27FC236}">
                <a16:creationId xmlns:a16="http://schemas.microsoft.com/office/drawing/2014/main" id="{0D3CC936-E383-FD8B-642D-55D52B8E9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17 Marcador de número de diapositiva">
            <a:extLst>
              <a:ext uri="{FF2B5EF4-FFF2-40B4-BE49-F238E27FC236}">
                <a16:creationId xmlns:a16="http://schemas.microsoft.com/office/drawing/2014/main" id="{3984F106-0ABC-468C-B4FB-C578C4C10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1D63A0-F3CE-4BA9-9EDD-6753ED3409F5}" type="slidenum">
              <a:rPr lang="es-ES" altLang="es-PE"/>
              <a:pPr/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292315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3 Recortar y redondear rectángulo de esquina sencilla">
            <a:extLst>
              <a:ext uri="{FF2B5EF4-FFF2-40B4-BE49-F238E27FC236}">
                <a16:creationId xmlns:a16="http://schemas.microsoft.com/office/drawing/2014/main" id="{2D9B1C86-D19E-953F-999F-108136CFE036}"/>
              </a:ext>
            </a:extLst>
          </p:cNvPr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14 Triángulo rectángulo">
            <a:extLst>
              <a:ext uri="{FF2B5EF4-FFF2-40B4-BE49-F238E27FC236}">
                <a16:creationId xmlns:a16="http://schemas.microsoft.com/office/drawing/2014/main" id="{585CFB8E-6103-7BA2-F83A-10E0CE60FC5B}"/>
              </a:ext>
            </a:extLst>
          </p:cNvPr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15 Forma libre">
            <a:extLst>
              <a:ext uri="{FF2B5EF4-FFF2-40B4-BE49-F238E27FC236}">
                <a16:creationId xmlns:a16="http://schemas.microsoft.com/office/drawing/2014/main" id="{97D35975-3FDE-9B9C-E298-9FECFFA35AA4}"/>
              </a:ext>
            </a:extLst>
          </p:cNvPr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</a:endParaRPr>
          </a:p>
        </p:txBody>
      </p:sp>
      <p:sp>
        <p:nvSpPr>
          <p:cNvPr id="8" name="16 Forma libre">
            <a:extLst>
              <a:ext uri="{FF2B5EF4-FFF2-40B4-BE49-F238E27FC236}">
                <a16:creationId xmlns:a16="http://schemas.microsoft.com/office/drawing/2014/main" id="{A3225079-A812-B6AC-6C25-46E50874C830}"/>
              </a:ext>
            </a:extLst>
          </p:cNvPr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9" name="4 Marcador de fecha">
            <a:extLst>
              <a:ext uri="{FF2B5EF4-FFF2-40B4-BE49-F238E27FC236}">
                <a16:creationId xmlns:a16="http://schemas.microsoft.com/office/drawing/2014/main" id="{B460E338-4153-6D92-7543-7C6A43EE4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5 Marcador de pie de página">
            <a:extLst>
              <a:ext uri="{FF2B5EF4-FFF2-40B4-BE49-F238E27FC236}">
                <a16:creationId xmlns:a16="http://schemas.microsoft.com/office/drawing/2014/main" id="{8ADB9E2F-7505-7BB0-ECDB-163B7431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" name="6 Marcador de número de diapositiva">
            <a:extLst>
              <a:ext uri="{FF2B5EF4-FFF2-40B4-BE49-F238E27FC236}">
                <a16:creationId xmlns:a16="http://schemas.microsoft.com/office/drawing/2014/main" id="{D41DAFCD-4C0E-1CF6-EC58-51F4B4A2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fld id="{DCE39C66-2E50-4305-9BB0-9EE6D19969B7}" type="slidenum">
              <a:rPr lang="es-ES" altLang="es-PE"/>
              <a:pPr/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3883868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9 Marcador de fecha">
            <a:extLst>
              <a:ext uri="{FF2B5EF4-FFF2-40B4-BE49-F238E27FC236}">
                <a16:creationId xmlns:a16="http://schemas.microsoft.com/office/drawing/2014/main" id="{B945CF12-F1FC-6BEC-4113-78B1A5196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21 Marcador de pie de página">
            <a:extLst>
              <a:ext uri="{FF2B5EF4-FFF2-40B4-BE49-F238E27FC236}">
                <a16:creationId xmlns:a16="http://schemas.microsoft.com/office/drawing/2014/main" id="{ED7A12C5-6074-461C-4B12-E7B4BFB4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17 Marcador de número de diapositiva">
            <a:extLst>
              <a:ext uri="{FF2B5EF4-FFF2-40B4-BE49-F238E27FC236}">
                <a16:creationId xmlns:a16="http://schemas.microsoft.com/office/drawing/2014/main" id="{E9F0D395-0F83-47E3-BCEC-9F025904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4DF353-2F50-416C-9073-801C6F4AFA4B}" type="slidenum">
              <a:rPr lang="es-ES" altLang="es-PE"/>
              <a:pPr/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15423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9 Marcador de fecha">
            <a:extLst>
              <a:ext uri="{FF2B5EF4-FFF2-40B4-BE49-F238E27FC236}">
                <a16:creationId xmlns:a16="http://schemas.microsoft.com/office/drawing/2014/main" id="{B17DBE25-9AF2-0D5D-3071-DB0A88AD1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21 Marcador de pie de página">
            <a:extLst>
              <a:ext uri="{FF2B5EF4-FFF2-40B4-BE49-F238E27FC236}">
                <a16:creationId xmlns:a16="http://schemas.microsoft.com/office/drawing/2014/main" id="{919E270E-85E0-1992-5DEF-2D5AAB466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17 Marcador de número de diapositiva">
            <a:extLst>
              <a:ext uri="{FF2B5EF4-FFF2-40B4-BE49-F238E27FC236}">
                <a16:creationId xmlns:a16="http://schemas.microsoft.com/office/drawing/2014/main" id="{55C48C4F-965A-478E-DE1F-AF7A5EAC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6446F2-E45B-49DC-9F90-7D0FD2C152C2}" type="slidenum">
              <a:rPr lang="es-ES" altLang="es-PE"/>
              <a:pPr/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1490380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>
            <a:extLst>
              <a:ext uri="{FF2B5EF4-FFF2-40B4-BE49-F238E27FC236}">
                <a16:creationId xmlns:a16="http://schemas.microsoft.com/office/drawing/2014/main" id="{15118F5C-9359-8238-5F95-DCECBD3E1228}"/>
              </a:ext>
            </a:extLst>
          </p:cNvPr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</a:endParaRPr>
          </a:p>
        </p:txBody>
      </p:sp>
      <p:sp>
        <p:nvSpPr>
          <p:cNvPr id="8" name="7 Forma libre">
            <a:extLst>
              <a:ext uri="{FF2B5EF4-FFF2-40B4-BE49-F238E27FC236}">
                <a16:creationId xmlns:a16="http://schemas.microsoft.com/office/drawing/2014/main" id="{CF5228D2-50E0-38FA-D94C-E102D158B27D}"/>
              </a:ext>
            </a:extLst>
          </p:cNvPr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</a:endParaRPr>
          </a:p>
        </p:txBody>
      </p:sp>
      <p:sp>
        <p:nvSpPr>
          <p:cNvPr id="2052" name="8 Marcador de título">
            <a:extLst>
              <a:ext uri="{FF2B5EF4-FFF2-40B4-BE49-F238E27FC236}">
                <a16:creationId xmlns:a16="http://schemas.microsoft.com/office/drawing/2014/main" id="{F140C357-678C-3A4B-C27C-72DD8FE1F49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Haga clic para modificar el estilo de título del patrón</a:t>
            </a:r>
            <a:endParaRPr lang="en-US" altLang="es-PE"/>
          </a:p>
        </p:txBody>
      </p:sp>
      <p:sp>
        <p:nvSpPr>
          <p:cNvPr id="2053" name="29 Marcador de texto">
            <a:extLst>
              <a:ext uri="{FF2B5EF4-FFF2-40B4-BE49-F238E27FC236}">
                <a16:creationId xmlns:a16="http://schemas.microsoft.com/office/drawing/2014/main" id="{E487A710-DFB6-11C0-6F08-3D885908CA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Haga clic para modificar el estilo de texto del patrón</a:t>
            </a:r>
          </a:p>
          <a:p>
            <a:pPr lvl="1"/>
            <a:r>
              <a:rPr lang="es-ES" altLang="es-PE"/>
              <a:t>Segundo nivel</a:t>
            </a:r>
          </a:p>
          <a:p>
            <a:pPr lvl="2"/>
            <a:r>
              <a:rPr lang="es-ES" altLang="es-PE"/>
              <a:t>Tercer nivel</a:t>
            </a:r>
          </a:p>
          <a:p>
            <a:pPr lvl="3"/>
            <a:r>
              <a:rPr lang="es-ES" altLang="es-PE"/>
              <a:t>Cuarto nivel</a:t>
            </a:r>
          </a:p>
          <a:p>
            <a:pPr lvl="4"/>
            <a:r>
              <a:rPr lang="es-ES" altLang="es-PE"/>
              <a:t>Quinto nivel</a:t>
            </a:r>
            <a:endParaRPr lang="en-US" altLang="es-PE"/>
          </a:p>
        </p:txBody>
      </p:sp>
      <p:sp>
        <p:nvSpPr>
          <p:cNvPr id="10" name="9 Marcador de fecha">
            <a:extLst>
              <a:ext uri="{FF2B5EF4-FFF2-40B4-BE49-F238E27FC236}">
                <a16:creationId xmlns:a16="http://schemas.microsoft.com/office/drawing/2014/main" id="{7EDBBEAB-1A66-8625-0487-708539235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2" name="21 Marcador de pie de página">
            <a:extLst>
              <a:ext uri="{FF2B5EF4-FFF2-40B4-BE49-F238E27FC236}">
                <a16:creationId xmlns:a16="http://schemas.microsoft.com/office/drawing/2014/main" id="{9AF4443A-9A57-F6E1-60DB-5C902DC3F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8" name="17 Marcador de número de diapositiva">
            <a:extLst>
              <a:ext uri="{FF2B5EF4-FFF2-40B4-BE49-F238E27FC236}">
                <a16:creationId xmlns:a16="http://schemas.microsoft.com/office/drawing/2014/main" id="{2896250D-4B3A-D0E0-FA5F-50A03E758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45C75"/>
                </a:solidFill>
              </a:defRPr>
            </a:lvl1pPr>
          </a:lstStyle>
          <a:p>
            <a:fld id="{85089868-884D-4DFB-AC35-C1A92BF3875C}" type="slidenum">
              <a:rPr lang="es-ES" altLang="es-PE"/>
              <a:pPr/>
              <a:t>‹Nº›</a:t>
            </a:fld>
            <a:endParaRPr lang="es-ES" altLang="es-PE"/>
          </a:p>
        </p:txBody>
      </p:sp>
      <p:grpSp>
        <p:nvGrpSpPr>
          <p:cNvPr id="2057" name="1 Grupo">
            <a:extLst>
              <a:ext uri="{FF2B5EF4-FFF2-40B4-BE49-F238E27FC236}">
                <a16:creationId xmlns:a16="http://schemas.microsoft.com/office/drawing/2014/main" id="{9F900FF7-29EC-5112-DEE1-4895A761A9F9}"/>
              </a:ext>
            </a:extLst>
          </p:cNvPr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11 Forma libre">
              <a:extLst>
                <a:ext uri="{FF2B5EF4-FFF2-40B4-BE49-F238E27FC236}">
                  <a16:creationId xmlns:a16="http://schemas.microsoft.com/office/drawing/2014/main" id="{38997424-A9CE-EC8F-2F57-530D1AD918D0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12 Forma libre">
              <a:extLst>
                <a:ext uri="{FF2B5EF4-FFF2-40B4-BE49-F238E27FC236}">
                  <a16:creationId xmlns:a16="http://schemas.microsoft.com/office/drawing/2014/main" id="{0AD345A0-B487-802D-9268-FE624D0F5ADC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45" r:id="rId2"/>
    <p:sldLayoutId id="2147483854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5" r:id="rId9"/>
    <p:sldLayoutId id="2147483851" r:id="rId10"/>
    <p:sldLayoutId id="214748385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http://www.odontocat.com/images/funcional16.jpg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http://www.odontocat.com/images/funcional16.jpg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7C576FAF-612F-ED26-6C3A-1E2AB18F7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s-CO" dirty="0">
                <a:solidFill>
                  <a:srgbClr val="FFC000"/>
                </a:solidFill>
              </a:rPr>
              <a:t>MODELADORES ELASTICOS DE BIMLER</a:t>
            </a:r>
          </a:p>
        </p:txBody>
      </p:sp>
      <p:sp>
        <p:nvSpPr>
          <p:cNvPr id="6147" name="2 Subtítulo">
            <a:extLst>
              <a:ext uri="{FF2B5EF4-FFF2-40B4-BE49-F238E27FC236}">
                <a16:creationId xmlns:a16="http://schemas.microsoft.com/office/drawing/2014/main" id="{D1401B5E-A12A-DECC-B74F-0AE58F011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3786188"/>
            <a:ext cx="7854950" cy="2071687"/>
          </a:xfrm>
        </p:spPr>
        <p:txBody>
          <a:bodyPr/>
          <a:lstStyle/>
          <a:p>
            <a:pPr marR="0" eaLnBrk="1" hangingPunct="1"/>
            <a:r>
              <a:rPr lang="es-CO" altLang="es-PE" sz="2800"/>
              <a:t>POSTGRADO  DE ORTOPEDIA FUNCIONAL Y ORTODONCIA – UCC</a:t>
            </a:r>
          </a:p>
          <a:p>
            <a:pPr marR="0" eaLnBrk="1" hangingPunct="1"/>
            <a:r>
              <a:rPr lang="es-CO" altLang="es-PE" sz="2800">
                <a:solidFill>
                  <a:srgbClr val="0B5395"/>
                </a:solidFill>
              </a:rPr>
              <a:t>DAVID ORTIZ UMAÑA – RESIDENTE</a:t>
            </a:r>
          </a:p>
          <a:p>
            <a:pPr marR="0" eaLnBrk="1" hangingPunct="1"/>
            <a:r>
              <a:rPr lang="es-CO" altLang="es-PE" sz="2800">
                <a:solidFill>
                  <a:srgbClr val="0B5395"/>
                </a:solidFill>
              </a:rPr>
              <a:t>II SEMESTRE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 descr="C:\Mis documentos\Postgrado Oscar\Bimler\portada.jpg">
            <a:extLst>
              <a:ext uri="{FF2B5EF4-FFF2-40B4-BE49-F238E27FC236}">
                <a16:creationId xmlns:a16="http://schemas.microsoft.com/office/drawing/2014/main" id="{7C0764FF-CD24-2153-BA68-57F535391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644650"/>
            <a:ext cx="4114800" cy="3713163"/>
          </a:xfrm>
          <a:prstGeom prst="rect">
            <a:avLst/>
          </a:prstGeom>
          <a:noFill/>
          <a:ln w="38100" cmpd="dbl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4" name="Text Box 6">
            <a:extLst>
              <a:ext uri="{FF2B5EF4-FFF2-40B4-BE49-F238E27FC236}">
                <a16:creationId xmlns:a16="http://schemas.microsoft.com/office/drawing/2014/main" id="{E1A98E64-ABE8-0E2A-567E-91C99D895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267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CO" altLang="es-PE"/>
          </a:p>
        </p:txBody>
      </p:sp>
      <p:sp>
        <p:nvSpPr>
          <p:cNvPr id="2058" name="WordArt 10">
            <a:extLst>
              <a:ext uri="{FF2B5EF4-FFF2-40B4-BE49-F238E27FC236}">
                <a16:creationId xmlns:a16="http://schemas.microsoft.com/office/drawing/2014/main" id="{FEF05FF7-5274-A28D-D454-E0AA9E7883A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576263"/>
            <a:ext cx="7324725" cy="6381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PE"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Modelador Elástico de Bimler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F445CA1-01FE-F006-7187-B5E843639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714375"/>
            <a:ext cx="82296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HISTORIA</a:t>
            </a:r>
            <a:endParaRPr lang="es-ES" altLang="es-PE" b="1">
              <a:solidFill>
                <a:srgbClr val="FFFF00"/>
              </a:solidFill>
            </a:endParaRPr>
          </a:p>
        </p:txBody>
      </p:sp>
      <p:pic>
        <p:nvPicPr>
          <p:cNvPr id="8195" name="Picture 5">
            <a:extLst>
              <a:ext uri="{FF2B5EF4-FFF2-40B4-BE49-F238E27FC236}">
                <a16:creationId xmlns:a16="http://schemas.microsoft.com/office/drawing/2014/main" id="{35F440E8-527E-9D21-0015-E1A0FC7F835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4438" y="2643188"/>
            <a:ext cx="2055812" cy="2143125"/>
          </a:xfrm>
          <a:noFill/>
          <a:ln w="38100" cmpd="dbl">
            <a:solidFill>
              <a:srgbClr val="FFFF00"/>
            </a:solidFill>
            <a:miter lim="800000"/>
            <a:headEnd/>
            <a:tailEnd/>
          </a:ln>
        </p:spPr>
      </p:pic>
      <p:sp>
        <p:nvSpPr>
          <p:cNvPr id="8196" name="Rectangle 4">
            <a:extLst>
              <a:ext uri="{FF2B5EF4-FFF2-40B4-BE49-F238E27FC236}">
                <a16:creationId xmlns:a16="http://schemas.microsoft.com/office/drawing/2014/main" id="{DA5D11E6-A9B3-F7BD-8D6B-AC1592E2BE2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648200" y="1920875"/>
            <a:ext cx="4038600" cy="44338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CO" altLang="es-PE" sz="2400"/>
              <a:t>DR. HANS PETER BIMLER NACIDO EN BESLAVIA, POLONIA</a:t>
            </a:r>
          </a:p>
          <a:p>
            <a:pPr eaLnBrk="1" hangingPunct="1">
              <a:lnSpc>
                <a:spcPct val="90000"/>
              </a:lnSpc>
            </a:pPr>
            <a:endParaRPr lang="es-CO" altLang="es-PE" sz="2400"/>
          </a:p>
          <a:p>
            <a:pPr eaLnBrk="1" hangingPunct="1">
              <a:lnSpc>
                <a:spcPct val="90000"/>
              </a:lnSpc>
            </a:pPr>
            <a:r>
              <a:rPr lang="es-CO" altLang="es-PE" sz="2400"/>
              <a:t>ALUMNO DE SCHWUARTZ.(1939)</a:t>
            </a:r>
          </a:p>
          <a:p>
            <a:pPr eaLnBrk="1" hangingPunct="1">
              <a:lnSpc>
                <a:spcPct val="90000"/>
              </a:lnSpc>
            </a:pPr>
            <a:endParaRPr lang="es-CO" altLang="es-PE" sz="2400"/>
          </a:p>
          <a:p>
            <a:pPr eaLnBrk="1" hangingPunct="1">
              <a:lnSpc>
                <a:spcPct val="90000"/>
              </a:lnSpc>
            </a:pPr>
            <a:r>
              <a:rPr lang="es-CO" altLang="es-PE" sz="2400"/>
              <a:t>II GUERRA MUNDIAL.</a:t>
            </a:r>
          </a:p>
          <a:p>
            <a:pPr eaLnBrk="1" hangingPunct="1">
              <a:lnSpc>
                <a:spcPct val="90000"/>
              </a:lnSpc>
            </a:pPr>
            <a:endParaRPr lang="es-CO" altLang="es-PE" sz="2400"/>
          </a:p>
          <a:p>
            <a:pPr eaLnBrk="1" hangingPunct="1">
              <a:lnSpc>
                <a:spcPct val="90000"/>
              </a:lnSpc>
            </a:pPr>
            <a:r>
              <a:rPr lang="es-CO" altLang="es-PE" sz="2400"/>
              <a:t>GRAN ÉXITO EN EUROPA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6C4AD7C-9C46-F3B7-1288-FB6B97035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714375"/>
            <a:ext cx="82296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ANOMALIA DE OCLUSION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9219" name="Rectangle 4">
            <a:extLst>
              <a:ext uri="{FF2B5EF4-FFF2-40B4-BE49-F238E27FC236}">
                <a16:creationId xmlns:a16="http://schemas.microsoft.com/office/drawing/2014/main" id="{3427BB24-CF1F-E1FC-90E5-4066DB2BC94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000125" y="1785938"/>
            <a:ext cx="7572375" cy="4624387"/>
          </a:xfrm>
        </p:spPr>
        <p:txBody>
          <a:bodyPr/>
          <a:lstStyle/>
          <a:p>
            <a:pPr eaLnBrk="1" hangingPunct="1"/>
            <a:endParaRPr lang="es-CO" altLang="es-PE" sz="2400"/>
          </a:p>
          <a:p>
            <a:pPr eaLnBrk="1" hangingPunct="1"/>
            <a:endParaRPr lang="es-CO" altLang="es-PE" sz="2400"/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s-CO" altLang="es-PE"/>
              <a:t> </a:t>
            </a:r>
            <a:r>
              <a:rPr lang="es-CO" altLang="es-PE" sz="2400"/>
              <a:t>EL PROCESO DE CRECIMIENTO  Y DESARROLLO PUEDE SER PERTURBADO EN ALGUN SITIO: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s-CO" altLang="es-PE" sz="2400"/>
          </a:p>
          <a:p>
            <a:pPr eaLnBrk="1" hangingPunct="1">
              <a:lnSpc>
                <a:spcPct val="90000"/>
              </a:lnSpc>
            </a:pPr>
            <a:r>
              <a:rPr lang="es-CO" altLang="es-PE" sz="2000"/>
              <a:t> POR HIPOTROFIA O HIPOPLASIA DE LA MATRIZ ÓSEA,</a:t>
            </a:r>
          </a:p>
          <a:p>
            <a:pPr eaLnBrk="1" hangingPunct="1">
              <a:lnSpc>
                <a:spcPct val="90000"/>
              </a:lnSpc>
            </a:pPr>
            <a:endParaRPr lang="es-CO" altLang="es-PE" sz="2000"/>
          </a:p>
          <a:p>
            <a:pPr eaLnBrk="1" hangingPunct="1">
              <a:lnSpc>
                <a:spcPct val="90000"/>
              </a:lnSpc>
            </a:pPr>
            <a:r>
              <a:rPr lang="es-CO" altLang="es-PE" sz="2400"/>
              <a:t>POR CANTIDAD O TAMAÑO DE LOS DIENTES,</a:t>
            </a:r>
          </a:p>
          <a:p>
            <a:pPr eaLnBrk="1" hangingPunct="1">
              <a:lnSpc>
                <a:spcPct val="90000"/>
              </a:lnSpc>
            </a:pPr>
            <a:endParaRPr lang="es-CO" altLang="es-PE" sz="2400"/>
          </a:p>
          <a:p>
            <a:pPr eaLnBrk="1" hangingPunct="1">
              <a:lnSpc>
                <a:spcPct val="90000"/>
              </a:lnSpc>
            </a:pPr>
            <a:r>
              <a:rPr lang="es-CO" altLang="es-PE" sz="2400"/>
              <a:t>POR COORDINACIÓN DEFICIENTE DE LA MANDIBULA, MAXILAR O POSICIÓN FUNCIONAL.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s-CO" altLang="es-PE" sz="2400"/>
          </a:p>
          <a:p>
            <a:pPr eaLnBrk="1" hangingPunct="1"/>
            <a:endParaRPr lang="es-CO" altLang="es-PE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68A7A5A-614B-6047-CEC1-909EA8A369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714375"/>
            <a:ext cx="82296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ANOMALIA DE OCLUSION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10243" name="Rectangle 4">
            <a:extLst>
              <a:ext uri="{FF2B5EF4-FFF2-40B4-BE49-F238E27FC236}">
                <a16:creationId xmlns:a16="http://schemas.microsoft.com/office/drawing/2014/main" id="{05867FB1-DBD0-A904-4BFB-6B6E8C9C9A2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71500" y="1857375"/>
            <a:ext cx="7572375" cy="4624388"/>
          </a:xfrm>
        </p:spPr>
        <p:txBody>
          <a:bodyPr/>
          <a:lstStyle/>
          <a:p>
            <a:pPr eaLnBrk="1" hangingPunct="1"/>
            <a:endParaRPr lang="es-CO" altLang="es-PE" sz="2400"/>
          </a:p>
          <a:p>
            <a:pPr eaLnBrk="1" hangingPunct="1"/>
            <a:endParaRPr lang="es-CO" altLang="es-PE" sz="2400"/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s-CO" altLang="es-PE" sz="2400"/>
          </a:p>
          <a:p>
            <a:pPr algn="ctr" eaLnBrk="1" hangingPunct="1"/>
            <a:r>
              <a:rPr lang="es-CO" altLang="es-PE" sz="2400"/>
              <a:t>Estas  anomalías de oclusión deben ser tratadas durante su  desarrollo por medio de una</a:t>
            </a:r>
          </a:p>
          <a:p>
            <a:pPr algn="ctr" eaLnBrk="1" hangingPunct="1">
              <a:buFont typeface="Wingdings 2" panose="05020102010507070707" pitchFamily="18" charset="2"/>
              <a:buNone/>
            </a:pPr>
            <a:r>
              <a:rPr lang="es-CO" altLang="es-PE" sz="2400"/>
              <a:t>                                     “MATRIZ TERAPÉUTICA”                           </a:t>
            </a:r>
          </a:p>
          <a:p>
            <a:pPr algn="ctr" eaLnBrk="1" hangingPunct="1">
              <a:buFont typeface="Wingdings 2" panose="05020102010507070707" pitchFamily="18" charset="2"/>
              <a:buNone/>
            </a:pPr>
            <a:r>
              <a:rPr lang="es-CO" altLang="es-PE" sz="2400"/>
              <a:t>     adicional y ser conducidas a un desarrollo normal determinado en cada caso en particular.</a:t>
            </a:r>
            <a:endParaRPr lang="es-ES" altLang="es-PE" sz="2400"/>
          </a:p>
          <a:p>
            <a:pPr eaLnBrk="1" hangingPunct="1"/>
            <a:endParaRPr lang="es-CO" altLang="es-PE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EB87698-78DA-CD6F-D96A-FE0124335B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714375"/>
            <a:ext cx="82296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GENERALIDADES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11267" name="Rectangle 4">
            <a:extLst>
              <a:ext uri="{FF2B5EF4-FFF2-40B4-BE49-F238E27FC236}">
                <a16:creationId xmlns:a16="http://schemas.microsoft.com/office/drawing/2014/main" id="{6CCD0E53-B56D-44DD-4AA0-757F3E63CEA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00063" y="1643063"/>
            <a:ext cx="4038600" cy="4433887"/>
          </a:xfrm>
        </p:spPr>
        <p:txBody>
          <a:bodyPr/>
          <a:lstStyle/>
          <a:p>
            <a:pPr eaLnBrk="1" hangingPunct="1"/>
            <a:endParaRPr lang="es-CO" altLang="es-PE" sz="2400"/>
          </a:p>
          <a:p>
            <a:pPr eaLnBrk="1" hangingPunct="1"/>
            <a:endParaRPr lang="es-CO" altLang="es-PE" sz="2400"/>
          </a:p>
          <a:p>
            <a:pPr eaLnBrk="1" hangingPunct="1"/>
            <a:endParaRPr lang="es-CO" altLang="es-PE" sz="2400"/>
          </a:p>
          <a:p>
            <a:pPr eaLnBrk="1" hangingPunct="1"/>
            <a:r>
              <a:rPr lang="es-CO" altLang="es-PE" sz="2400"/>
              <a:t>Se ha llegado a la conclusion que el modelador elastico , es el mas adecuado  en jovenes y adultos.</a:t>
            </a:r>
          </a:p>
          <a:p>
            <a:pPr eaLnBrk="1" hangingPunct="1"/>
            <a:r>
              <a:rPr lang="es-CO" altLang="es-PE" sz="2400"/>
              <a:t>Siempre libre de movilizacion  dentro de la boca 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s-CO" altLang="es-PE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C41B97B-CEE9-8521-60D0-0503A9F77A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0" y="714375"/>
            <a:ext cx="82296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GENERALIDADES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12291" name="Rectangle 4">
            <a:extLst>
              <a:ext uri="{FF2B5EF4-FFF2-40B4-BE49-F238E27FC236}">
                <a16:creationId xmlns:a16="http://schemas.microsoft.com/office/drawing/2014/main" id="{76A5D569-A57D-04F2-529E-6F5B4DD9D89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1920875"/>
            <a:ext cx="4038600" cy="4433888"/>
          </a:xfrm>
        </p:spPr>
        <p:txBody>
          <a:bodyPr/>
          <a:lstStyle/>
          <a:p>
            <a:pPr eaLnBrk="1" hangingPunct="1"/>
            <a:endParaRPr lang="es-CO" altLang="es-PE" sz="2400"/>
          </a:p>
          <a:p>
            <a:pPr eaLnBrk="1" hangingPunct="1"/>
            <a:endParaRPr lang="es-CO" altLang="es-PE" sz="2400"/>
          </a:p>
          <a:p>
            <a:pPr eaLnBrk="1" hangingPunct="1"/>
            <a:r>
              <a:rPr lang="es-CO" altLang="es-PE" sz="2400"/>
              <a:t>Hoy en dia  es donde vemos el verdadero sentido  del tratamiento funcional en la conduccion  neuromuscular por  accion del  aparato</a:t>
            </a:r>
          </a:p>
        </p:txBody>
      </p:sp>
      <p:pic>
        <p:nvPicPr>
          <p:cNvPr id="12292" name="Picture 5">
            <a:extLst>
              <a:ext uri="{FF2B5EF4-FFF2-40B4-BE49-F238E27FC236}">
                <a16:creationId xmlns:a16="http://schemas.microsoft.com/office/drawing/2014/main" id="{96C068FA-0EF2-EE88-552D-5D8259EA2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688" y="1285875"/>
            <a:ext cx="3214687" cy="250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6">
            <a:extLst>
              <a:ext uri="{FF2B5EF4-FFF2-40B4-BE49-F238E27FC236}">
                <a16:creationId xmlns:a16="http://schemas.microsoft.com/office/drawing/2014/main" id="{D2E22841-C6CE-79B7-0B51-D55FAD844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5" y="3500438"/>
            <a:ext cx="264318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974AF87-89D4-95E6-2ABA-E83A7D740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04850"/>
            <a:ext cx="82296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GENERALIDADES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13315" name="Rectangle 4">
            <a:extLst>
              <a:ext uri="{FF2B5EF4-FFF2-40B4-BE49-F238E27FC236}">
                <a16:creationId xmlns:a16="http://schemas.microsoft.com/office/drawing/2014/main" id="{F8E33938-0BC7-BA5B-2531-F3FD2DB240A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1920875"/>
            <a:ext cx="4038600" cy="4433888"/>
          </a:xfrm>
        </p:spPr>
        <p:txBody>
          <a:bodyPr/>
          <a:lstStyle/>
          <a:p>
            <a:pPr eaLnBrk="1" hangingPunct="1"/>
            <a:endParaRPr lang="es-CO" altLang="es-PE" sz="2400"/>
          </a:p>
          <a:p>
            <a:pPr eaLnBrk="1" hangingPunct="1"/>
            <a:r>
              <a:rPr lang="es-CO" altLang="es-PE" sz="2400"/>
              <a:t>Los aparatos protegen  y se apoyan  sobre las arcadas transmitiendo por  fuera y por dentro  las fuerzas inducidas por reflejo a los musculos circundantes hasta los dientes logrando el equilibrio.  </a:t>
            </a:r>
          </a:p>
        </p:txBody>
      </p:sp>
      <p:pic>
        <p:nvPicPr>
          <p:cNvPr id="13316" name="Picture 5">
            <a:extLst>
              <a:ext uri="{FF2B5EF4-FFF2-40B4-BE49-F238E27FC236}">
                <a16:creationId xmlns:a16="http://schemas.microsoft.com/office/drawing/2014/main" id="{3892C95E-61D8-0E05-8C41-6AD06F18E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688" y="1214438"/>
            <a:ext cx="2928937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6">
            <a:extLst>
              <a:ext uri="{FF2B5EF4-FFF2-40B4-BE49-F238E27FC236}">
                <a16:creationId xmlns:a16="http://schemas.microsoft.com/office/drawing/2014/main" id="{38340637-9C60-C02E-F6AE-05FF24FA1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786188"/>
            <a:ext cx="2786063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B22D71A-7994-5934-0F53-183955729C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8725" y="285750"/>
            <a:ext cx="77724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FILOSOFIA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4800B27-B1BE-6B74-D69D-AA88525FBA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5813" y="3357563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CO" altLang="es-PE"/>
              <a:t> Este modelador tiene la virtud de permitir movimientos de lateralidad, es elástico y trabaja por presencia. Estos movimientos están gobernados por el aprovechamiento de los estímulos del maxilar inferior y la musculatura de la actividad oral y de la lengua.</a:t>
            </a:r>
            <a:br>
              <a:rPr lang="es-CO" altLang="es-PE"/>
            </a:br>
            <a:endParaRPr lang="es-ES" altLang="es-PE"/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5FDCE42A-858F-ACF1-79E0-CF9A4A2A3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2628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CO" altLang="es-PE"/>
          </a:p>
        </p:txBody>
      </p:sp>
      <p:pic>
        <p:nvPicPr>
          <p:cNvPr id="14341" name="Picture 6">
            <a:extLst>
              <a:ext uri="{FF2B5EF4-FFF2-40B4-BE49-F238E27FC236}">
                <a16:creationId xmlns:a16="http://schemas.microsoft.com/office/drawing/2014/main" id="{6AFB7E03-D968-EC3D-1BA7-251CDD5C8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3" y="496888"/>
            <a:ext cx="2500312" cy="252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1 Título">
            <a:extLst>
              <a:ext uri="{FF2B5EF4-FFF2-40B4-BE49-F238E27FC236}">
                <a16:creationId xmlns:a16="http://schemas.microsoft.com/office/drawing/2014/main" id="{B9ACDD5E-4620-36AC-04FA-4A7A8354C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714375"/>
            <a:ext cx="82296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FILOSOFIA</a:t>
            </a:r>
          </a:p>
        </p:txBody>
      </p:sp>
      <p:sp>
        <p:nvSpPr>
          <p:cNvPr id="15363" name="2 Marcador de contenido">
            <a:extLst>
              <a:ext uri="{FF2B5EF4-FFF2-40B4-BE49-F238E27FC236}">
                <a16:creationId xmlns:a16="http://schemas.microsoft.com/office/drawing/2014/main" id="{8BB385F3-39F3-58C8-DC64-6AF41F357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2468563"/>
            <a:ext cx="8229600" cy="4389437"/>
          </a:xfrm>
        </p:spPr>
        <p:txBody>
          <a:bodyPr/>
          <a:lstStyle/>
          <a:p>
            <a:pPr eaLnBrk="1" hangingPunct="1"/>
            <a:endParaRPr lang="es-CO" altLang="es-PE"/>
          </a:p>
          <a:p>
            <a:pPr eaLnBrk="1" hangingPunct="1"/>
            <a:endParaRPr lang="es-CO" altLang="es-PE"/>
          </a:p>
          <a:p>
            <a:pPr eaLnBrk="1" hangingPunct="1"/>
            <a:endParaRPr lang="es-CO" altLang="es-PE"/>
          </a:p>
          <a:p>
            <a:pPr eaLnBrk="1" hangingPunct="1"/>
            <a:r>
              <a:rPr lang="es-CO" altLang="es-PE"/>
              <a:t>Proporciona una “matriz terapéutica” adicional al crecimiento del paciente, la cual conduce a un desarrollo normal determinado en cada caso en particular.</a:t>
            </a:r>
          </a:p>
          <a:p>
            <a:pPr eaLnBrk="1" hangingPunct="1"/>
            <a:endParaRPr lang="es-CO" altLang="es-PE"/>
          </a:p>
          <a:p>
            <a:pPr eaLnBrk="1" hangingPunct="1"/>
            <a:endParaRPr lang="es-CO" altLang="es-PE"/>
          </a:p>
        </p:txBody>
      </p:sp>
      <p:pic>
        <p:nvPicPr>
          <p:cNvPr id="15364" name="Picture 4" descr="http://www.odontocat.com/images/funcional16.jpg">
            <a:extLst>
              <a:ext uri="{FF2B5EF4-FFF2-40B4-BE49-F238E27FC236}">
                <a16:creationId xmlns:a16="http://schemas.microsoft.com/office/drawing/2014/main" id="{7B34C0CC-ECDB-88B1-46E9-8C272F63E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88" y="928688"/>
            <a:ext cx="3302000" cy="2476500"/>
          </a:xfrm>
          <a:prstGeom prst="rect">
            <a:avLst/>
          </a:prstGeom>
          <a:noFill/>
          <a:ln w="38100" cmpd="dbl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3E0DF39-E5FF-90E7-9975-17BCA36A2C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8725" y="285750"/>
            <a:ext cx="77724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FILOSOFIA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C45F61B-4402-00E8-24A7-ED2767B815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4375" y="3786188"/>
            <a:ext cx="7772400" cy="28575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CO" altLang="es-PE"/>
              <a:t>Las propiedades más significativas de este aparato son que permite obtener simultáneamente los tres movimientos, de expansión transversal, protusión,  y retrusión</a:t>
            </a:r>
            <a:endParaRPr lang="es-ES" altLang="es-PE"/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A80A4A19-2AC6-3E32-FC94-2877A53E1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2628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CO" altLang="es-PE"/>
          </a:p>
        </p:txBody>
      </p:sp>
      <p:pic>
        <p:nvPicPr>
          <p:cNvPr id="16389" name="Picture 6">
            <a:extLst>
              <a:ext uri="{FF2B5EF4-FFF2-40B4-BE49-F238E27FC236}">
                <a16:creationId xmlns:a16="http://schemas.microsoft.com/office/drawing/2014/main" id="{A78A2057-6608-86EA-83B1-F3C6CFA52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5" y="1214438"/>
            <a:ext cx="250507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1 Título">
            <a:extLst>
              <a:ext uri="{FF2B5EF4-FFF2-40B4-BE49-F238E27FC236}">
                <a16:creationId xmlns:a16="http://schemas.microsoft.com/office/drawing/2014/main" id="{34731A2C-1570-F4AA-3E66-ABD6D7774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42938"/>
            <a:ext cx="82296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FILOSOFIA</a:t>
            </a:r>
          </a:p>
        </p:txBody>
      </p:sp>
      <p:sp>
        <p:nvSpPr>
          <p:cNvPr id="17411" name="2 Marcador de contenido">
            <a:extLst>
              <a:ext uri="{FF2B5EF4-FFF2-40B4-BE49-F238E27FC236}">
                <a16:creationId xmlns:a16="http://schemas.microsoft.com/office/drawing/2014/main" id="{F393008D-51A8-113D-E869-BA60C4375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s-CO" altLang="es-PE"/>
          </a:p>
          <a:p>
            <a:pPr eaLnBrk="1" hangingPunct="1"/>
            <a:endParaRPr lang="es-CO" altLang="es-PE"/>
          </a:p>
          <a:p>
            <a:pPr eaLnBrk="1" hangingPunct="1">
              <a:buFont typeface="Wingdings 2" panose="05020102010507070707" pitchFamily="18" charset="2"/>
              <a:buNone/>
            </a:pPr>
            <a:endParaRPr lang="es-CO" altLang="es-PE"/>
          </a:p>
          <a:p>
            <a:pPr eaLnBrk="1" hangingPunct="1"/>
            <a:r>
              <a:rPr lang="es-CO" altLang="es-PE"/>
              <a:t>L a elasticidad del aparato genera en el paciente la masticación consciente e inconscientemente y esta acción terapéutica es controlada por la propia capacidad de adaptación del paciente.</a:t>
            </a:r>
          </a:p>
        </p:txBody>
      </p:sp>
      <p:pic>
        <p:nvPicPr>
          <p:cNvPr id="17412" name="Picture 2">
            <a:extLst>
              <a:ext uri="{FF2B5EF4-FFF2-40B4-BE49-F238E27FC236}">
                <a16:creationId xmlns:a16="http://schemas.microsoft.com/office/drawing/2014/main" id="{1F9B8C32-C1D6-303D-1737-7DBE45ACC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714375"/>
            <a:ext cx="2571750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DD4DCEA-5F89-EFFB-2C93-D423A66296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8725" y="285750"/>
            <a:ext cx="77724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FILOSOFIA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50EF137-B169-58A4-B113-0B494BBF35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27432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CO" altLang="es-PE"/>
              <a:t>Terapia dinamico funcional:</a:t>
            </a:r>
          </a:p>
          <a:p>
            <a:pPr eaLnBrk="1" hangingPunct="1">
              <a:lnSpc>
                <a:spcPct val="90000"/>
              </a:lnSpc>
            </a:pPr>
            <a:endParaRPr lang="es-CO" altLang="es-PE"/>
          </a:p>
          <a:p>
            <a:pPr eaLnBrk="1" hangingPunct="1">
              <a:lnSpc>
                <a:spcPct val="90000"/>
              </a:lnSpc>
            </a:pPr>
            <a:r>
              <a:rPr lang="es-CO" altLang="es-PE"/>
              <a:t>1)Dinamico: siendo un aparato bimaxilar pasivo, estimula la actividad muscular natural .</a:t>
            </a:r>
          </a:p>
          <a:p>
            <a:pPr eaLnBrk="1" hangingPunct="1">
              <a:lnSpc>
                <a:spcPct val="90000"/>
              </a:lnSpc>
            </a:pPr>
            <a:r>
              <a:rPr lang="es-CO" altLang="es-PE"/>
              <a:t>2)Funcional: permite movimientos de lateralidad del max. inf , movimientos y funcion lingual.</a:t>
            </a:r>
            <a:endParaRPr lang="es-ES" altLang="es-PE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71811139-6279-9073-A83E-5634C88C6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2628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CO" altLang="es-PE"/>
          </a:p>
        </p:txBody>
      </p:sp>
      <p:pic>
        <p:nvPicPr>
          <p:cNvPr id="18437" name="Picture 4" descr="http://www.odontocat.com/images/funcional16.jpg">
            <a:extLst>
              <a:ext uri="{FF2B5EF4-FFF2-40B4-BE49-F238E27FC236}">
                <a16:creationId xmlns:a16="http://schemas.microsoft.com/office/drawing/2014/main" id="{9E4891E6-F354-0C32-7A58-C7CA18D93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81000"/>
            <a:ext cx="2971800" cy="2228850"/>
          </a:xfrm>
          <a:prstGeom prst="rect">
            <a:avLst/>
          </a:prstGeom>
          <a:noFill/>
          <a:ln w="38100" cmpd="dbl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1 Título">
            <a:extLst>
              <a:ext uri="{FF2B5EF4-FFF2-40B4-BE49-F238E27FC236}">
                <a16:creationId xmlns:a16="http://schemas.microsoft.com/office/drawing/2014/main" id="{BE09B6E4-5102-0BDE-927F-D8604FC6D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28625"/>
            <a:ext cx="82296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Cambio Postural Terapéutico</a:t>
            </a:r>
          </a:p>
        </p:txBody>
      </p:sp>
      <p:sp>
        <p:nvSpPr>
          <p:cNvPr id="19459" name="2 Marcador de contenido">
            <a:extLst>
              <a:ext uri="{FF2B5EF4-FFF2-40B4-BE49-F238E27FC236}">
                <a16:creationId xmlns:a16="http://schemas.microsoft.com/office/drawing/2014/main" id="{F79EEB45-3017-CC23-0B48-D56D8CDE7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s-CO" altLang="es-PE"/>
          </a:p>
          <a:p>
            <a:pPr eaLnBrk="1" hangingPunct="1"/>
            <a:endParaRPr lang="es-CO" altLang="es-PE"/>
          </a:p>
          <a:p>
            <a:pPr eaLnBrk="1" hangingPunct="1"/>
            <a:endParaRPr lang="es-CO" altLang="es-PE"/>
          </a:p>
          <a:p>
            <a:pPr eaLnBrk="1" hangingPunct="1"/>
            <a:endParaRPr lang="es-CO" altLang="es-PE"/>
          </a:p>
          <a:p>
            <a:pPr eaLnBrk="1" hangingPunct="1"/>
            <a:r>
              <a:rPr lang="es-CO" altLang="es-PE"/>
              <a:t>Leve</a:t>
            </a:r>
          </a:p>
          <a:p>
            <a:pPr eaLnBrk="1" hangingPunct="1"/>
            <a:r>
              <a:rPr lang="es-CO" altLang="es-PE"/>
              <a:t>Vertical:  no sobrepasar el borde a borde de incisivos.</a:t>
            </a:r>
          </a:p>
          <a:p>
            <a:pPr eaLnBrk="1" hangingPunct="1"/>
            <a:r>
              <a:rPr lang="es-CO" altLang="es-PE"/>
              <a:t>Sagital:  depende de la maloclusión</a:t>
            </a:r>
          </a:p>
        </p:txBody>
      </p:sp>
      <p:pic>
        <p:nvPicPr>
          <p:cNvPr id="19460" name="Picture 11" descr="20">
            <a:extLst>
              <a:ext uri="{FF2B5EF4-FFF2-40B4-BE49-F238E27FC236}">
                <a16:creationId xmlns:a16="http://schemas.microsoft.com/office/drawing/2014/main" id="{0B79C125-F0F9-438A-723C-52A561A4E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5" y="1857375"/>
            <a:ext cx="2994025" cy="224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AC1A4CA-9974-A4FA-58F5-2B0EE8787A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85750"/>
            <a:ext cx="82296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VENTAJAS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654F8F1-AD82-C430-85CB-7FAB3151DED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85800" y="1600200"/>
            <a:ext cx="4191000" cy="5257800"/>
          </a:xfrm>
        </p:spPr>
        <p:txBody>
          <a:bodyPr/>
          <a:lstStyle/>
          <a:p>
            <a:pPr eaLnBrk="1" hangingPunct="1"/>
            <a:r>
              <a:rPr lang="es-CO" altLang="es-PE" sz="2400"/>
              <a:t>POR SU CONFORMACION  PUEDE SER USADO MAS HORAS DURANTE EL DIA.</a:t>
            </a:r>
          </a:p>
          <a:p>
            <a:pPr eaLnBrk="1" hangingPunct="1"/>
            <a:r>
              <a:rPr lang="es-CO" altLang="es-PE" sz="2400"/>
              <a:t>FACILITA LA FONACIÓN Y MOV. MANDIBULARES</a:t>
            </a:r>
          </a:p>
          <a:p>
            <a:pPr eaLnBrk="1" hangingPunct="1"/>
            <a:endParaRPr lang="es-CO" altLang="es-PE" sz="2400"/>
          </a:p>
          <a:p>
            <a:pPr eaLnBrk="1" hangingPunct="1"/>
            <a:r>
              <a:rPr lang="es-CO" altLang="es-PE" sz="2400"/>
              <a:t>SE APROVECHA LA MAYOR CANTIDAD DE MOVIMIENTOS POSIBLE</a:t>
            </a:r>
          </a:p>
          <a:p>
            <a:pPr eaLnBrk="1" hangingPunct="1">
              <a:buFontTx/>
              <a:buNone/>
            </a:pPr>
            <a:endParaRPr lang="es-CO" altLang="es-PE" sz="2400"/>
          </a:p>
          <a:p>
            <a:pPr eaLnBrk="1" hangingPunct="1"/>
            <a:r>
              <a:rPr lang="es-CO" altLang="es-PE" sz="2400"/>
              <a:t>TRATAMIENTO MAS CORTO</a:t>
            </a:r>
            <a:endParaRPr lang="es-ES" altLang="es-PE" sz="2400"/>
          </a:p>
        </p:txBody>
      </p:sp>
      <p:pic>
        <p:nvPicPr>
          <p:cNvPr id="20484" name="Picture 8" descr="C:\Mis documentos\Postgrado Oscar\Bimler\FOTO.jpg">
            <a:extLst>
              <a:ext uri="{FF2B5EF4-FFF2-40B4-BE49-F238E27FC236}">
                <a16:creationId xmlns:a16="http://schemas.microsoft.com/office/drawing/2014/main" id="{F81C96A2-7A5C-8359-172C-C72A75610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743200"/>
            <a:ext cx="3352800" cy="2311400"/>
          </a:xfrm>
          <a:prstGeom prst="rect">
            <a:avLst/>
          </a:prstGeom>
          <a:noFill/>
          <a:ln w="38100" cmpd="dbl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5D83283-479F-7BEC-36EC-0408B838D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357188"/>
            <a:ext cx="7300913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VENTAJAS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29285DA-D293-07FD-20FF-362A3E3D2FB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85800" y="1600200"/>
            <a:ext cx="4191000" cy="5257800"/>
          </a:xfrm>
        </p:spPr>
        <p:txBody>
          <a:bodyPr/>
          <a:lstStyle/>
          <a:p>
            <a:pPr eaLnBrk="1" hangingPunct="1"/>
            <a:r>
              <a:rPr lang="es-CO" altLang="es-PE" sz="2400"/>
              <a:t> Un aparato que permite hacer movimientos de lateralidad y además es posible hablar, con lo cual permite llevarlo todo el día, y así evitábamos la posible recidiva que se produce durante el día</a:t>
            </a:r>
          </a:p>
          <a:p>
            <a:pPr eaLnBrk="1" hangingPunct="1"/>
            <a:r>
              <a:rPr lang="es-CO" altLang="es-PE" sz="2400"/>
              <a:t>También permite hacer movimientos linguales, por lo que se aprovechan para estimular el crecimiento óseo.</a:t>
            </a:r>
            <a:endParaRPr lang="es-ES" altLang="es-PE" sz="2400"/>
          </a:p>
        </p:txBody>
      </p:sp>
      <p:pic>
        <p:nvPicPr>
          <p:cNvPr id="21508" name="Picture 8" descr="C:\Mis documentos\Postgrado Oscar\Bimler\FOTO.jpg">
            <a:extLst>
              <a:ext uri="{FF2B5EF4-FFF2-40B4-BE49-F238E27FC236}">
                <a16:creationId xmlns:a16="http://schemas.microsoft.com/office/drawing/2014/main" id="{D287C92D-4249-985E-9697-A13D0DA56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743200"/>
            <a:ext cx="3352800" cy="2311400"/>
          </a:xfrm>
          <a:prstGeom prst="rect">
            <a:avLst/>
          </a:prstGeom>
          <a:noFill/>
          <a:ln w="38100" cmpd="dbl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EE229F7-CD2C-8E55-9C60-8A3875DDF0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2938" y="571500"/>
            <a:ext cx="82296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DESVENTAJAS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A255318-1126-6621-4B90-F67D97ECB1D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1920875"/>
            <a:ext cx="4038600" cy="4433888"/>
          </a:xfrm>
        </p:spPr>
        <p:txBody>
          <a:bodyPr/>
          <a:lstStyle/>
          <a:p>
            <a:pPr eaLnBrk="1" hangingPunct="1"/>
            <a:r>
              <a:rPr lang="es-CO" altLang="es-PE"/>
              <a:t>LOS ARCOS DORSALES QUE UNEN LA PLACA SUPERIOR CON LA INFERIOR SE FRACTURAN , SE DEFORMAN Y SE DESADAPTAN  CON FACILIDAD</a:t>
            </a:r>
            <a:endParaRPr lang="es-ES" altLang="es-PE"/>
          </a:p>
        </p:txBody>
      </p:sp>
      <p:pic>
        <p:nvPicPr>
          <p:cNvPr id="22532" name="Picture 5" descr="C:\Mis documentos\Postgrado Oscar\Bimler\FOTO 2.jpg">
            <a:extLst>
              <a:ext uri="{FF2B5EF4-FFF2-40B4-BE49-F238E27FC236}">
                <a16:creationId xmlns:a16="http://schemas.microsoft.com/office/drawing/2014/main" id="{99B7C073-CF7F-9253-8C62-8E9754492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286000"/>
            <a:ext cx="3505200" cy="2628900"/>
          </a:xfrm>
          <a:prstGeom prst="rect">
            <a:avLst/>
          </a:prstGeom>
          <a:noFill/>
          <a:ln w="38100" cmpd="dbl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Flecha derecha">
            <a:extLst>
              <a:ext uri="{FF2B5EF4-FFF2-40B4-BE49-F238E27FC236}">
                <a16:creationId xmlns:a16="http://schemas.microsoft.com/office/drawing/2014/main" id="{605FF170-4EDD-C6F1-6223-5037ED3AEA53}"/>
              </a:ext>
            </a:extLst>
          </p:cNvPr>
          <p:cNvSpPr/>
          <p:nvPr/>
        </p:nvSpPr>
        <p:spPr>
          <a:xfrm>
            <a:off x="3929063" y="4000500"/>
            <a:ext cx="977900" cy="4841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B5B5B72-DDC1-5590-9E39-4747FA7D96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7250" y="928688"/>
            <a:ext cx="77724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MODO DE ACCIÓN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23555" name="6 CuadroTexto">
            <a:extLst>
              <a:ext uri="{FF2B5EF4-FFF2-40B4-BE49-F238E27FC236}">
                <a16:creationId xmlns:a16="http://schemas.microsoft.com/office/drawing/2014/main" id="{ACCFAB61-97D9-053B-0F28-0C0B53696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2928938"/>
            <a:ext cx="7358063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CO" altLang="es-PE"/>
              <a:t> </a:t>
            </a:r>
            <a:r>
              <a:rPr lang="es-CO" altLang="es-PE" sz="2800"/>
              <a:t>TRANSVERSAL</a:t>
            </a:r>
          </a:p>
          <a:p>
            <a:pPr eaLnBrk="1" hangingPunct="1"/>
            <a:endParaRPr lang="es-CO" altLang="es-PE"/>
          </a:p>
          <a:p>
            <a:pPr eaLnBrk="1" hangingPunct="1"/>
            <a:endParaRPr lang="es-CO" altLang="es-PE"/>
          </a:p>
          <a:p>
            <a:pPr eaLnBrk="1" hangingPunct="1"/>
            <a:r>
              <a:rPr lang="es-CO" altLang="es-PE" sz="2800"/>
              <a:t>VERTICAL</a:t>
            </a:r>
          </a:p>
          <a:p>
            <a:pPr eaLnBrk="1" hangingPunct="1"/>
            <a:endParaRPr lang="es-CO" altLang="es-PE"/>
          </a:p>
          <a:p>
            <a:pPr eaLnBrk="1" hangingPunct="1"/>
            <a:endParaRPr lang="es-CO" altLang="es-PE"/>
          </a:p>
          <a:p>
            <a:pPr eaLnBrk="1" hangingPunct="1"/>
            <a:r>
              <a:rPr lang="es-CO" altLang="es-PE"/>
              <a:t> </a:t>
            </a:r>
            <a:r>
              <a:rPr lang="es-CO" altLang="es-PE" sz="2800"/>
              <a:t>SAGITAL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4DBBC5C-B9C6-DE91-6C54-462A7305B1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0"/>
            <a:ext cx="77724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SENTIDO SAGITAL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F59CD8D-8E35-8F05-6441-556158EC4B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5181600"/>
            <a:ext cx="8305800" cy="2667000"/>
          </a:xfrm>
        </p:spPr>
        <p:txBody>
          <a:bodyPr/>
          <a:lstStyle/>
          <a:p>
            <a:pPr eaLnBrk="1" hangingPunct="1"/>
            <a:r>
              <a:rPr lang="es-CO" altLang="es-PE" sz="1600"/>
              <a:t>PRODUCIDOS POR EL CAMBIO POSTURAL. Ej:EN CLASE II, ESTIRAMIENTO DE MUSC. RETRACTORES QUE AL CONTRAERSE NUEVAMENTE RECUESTAN LAS ALETAS ACRILICAS SUPERIORES MIENTRAS LOS ARCOS VESTIBULARES AUMENTAN SU FRICCIÓN  SOBRE EL MAX SUP.</a:t>
            </a:r>
            <a:endParaRPr lang="es-ES" altLang="es-PE" sz="1600"/>
          </a:p>
        </p:txBody>
      </p:sp>
      <p:pic>
        <p:nvPicPr>
          <p:cNvPr id="24580" name="Picture 4" descr="C:\Mis documentos\Postgrado Oscar\Bimler\cambios ATM en A.jpg">
            <a:extLst>
              <a:ext uri="{FF2B5EF4-FFF2-40B4-BE49-F238E27FC236}">
                <a16:creationId xmlns:a16="http://schemas.microsoft.com/office/drawing/2014/main" id="{C42E2E6D-B587-8582-D44D-C7EF04AAE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4648200" cy="3378200"/>
          </a:xfrm>
          <a:prstGeom prst="rect">
            <a:avLst/>
          </a:prstGeom>
          <a:noFill/>
          <a:ln w="38100" cmpd="dbl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1" name="Picture 5" descr="C:\Mis documentos\Postgrado Oscar\Bimler\Distoclusión.jpg">
            <a:extLst>
              <a:ext uri="{FF2B5EF4-FFF2-40B4-BE49-F238E27FC236}">
                <a16:creationId xmlns:a16="http://schemas.microsoft.com/office/drawing/2014/main" id="{9BBD209C-ECAB-D2B5-D24E-A78EE9863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371600"/>
            <a:ext cx="3276600" cy="3235325"/>
          </a:xfrm>
          <a:prstGeom prst="rect">
            <a:avLst/>
          </a:prstGeom>
          <a:noFill/>
          <a:ln w="38100" cmpd="dbl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8E68724-625C-0FAA-8511-439970649E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SENTIDO VERTICAL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F97CF32-6115-8717-CD0F-1B829EFE46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5715000"/>
            <a:ext cx="7772400" cy="4114800"/>
          </a:xfrm>
        </p:spPr>
        <p:txBody>
          <a:bodyPr/>
          <a:lstStyle/>
          <a:p>
            <a:pPr eaLnBrk="1" hangingPunct="1"/>
            <a:r>
              <a:rPr lang="es-CO" altLang="es-PE" sz="1600"/>
              <a:t>PRODUCIDOS TAMBIEN POR EL CAMBIO POSTURAL TERAPÉUTICO.</a:t>
            </a:r>
          </a:p>
          <a:p>
            <a:pPr eaLnBrk="1" hangingPunct="1"/>
            <a:r>
              <a:rPr lang="es-CO" altLang="es-PE" sz="1600"/>
              <a:t>EJ: EN CLASE II DIV 2</a:t>
            </a:r>
            <a:endParaRPr lang="es-ES" altLang="es-PE" sz="1600"/>
          </a:p>
        </p:txBody>
      </p:sp>
      <p:pic>
        <p:nvPicPr>
          <p:cNvPr id="25604" name="Picture 4" descr="C:\Mis documentos\Postgrado Oscar\Bimler\Modo de acción B.jpg">
            <a:extLst>
              <a:ext uri="{FF2B5EF4-FFF2-40B4-BE49-F238E27FC236}">
                <a16:creationId xmlns:a16="http://schemas.microsoft.com/office/drawing/2014/main" id="{BFEA70EB-349F-E274-D7FF-1731C3924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066800"/>
            <a:ext cx="6400800" cy="4235450"/>
          </a:xfrm>
          <a:prstGeom prst="rect">
            <a:avLst/>
          </a:prstGeom>
          <a:noFill/>
          <a:ln w="38100" cmpd="dbl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080FCFD-D9D0-03C8-B1FE-0393C67EF0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SENTIDO TRANSVERSAL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5E33B1C4-5966-A56D-2329-C572391D1B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5410200"/>
            <a:ext cx="7772400" cy="4114800"/>
          </a:xfrm>
        </p:spPr>
        <p:txBody>
          <a:bodyPr/>
          <a:lstStyle/>
          <a:p>
            <a:pPr eaLnBrk="1" hangingPunct="1"/>
            <a:r>
              <a:rPr lang="es-CO" altLang="es-PE" sz="1600"/>
              <a:t>REPARTICION DIAGONAL DE LAS FUERZAS DURANTE LOS MOVIMIENTOS</a:t>
            </a:r>
          </a:p>
        </p:txBody>
      </p:sp>
      <p:pic>
        <p:nvPicPr>
          <p:cNvPr id="26628" name="Picture 4" descr="C:\Mis documentos\Postgrado Oscar\Bimler\Lateralidades.jpg">
            <a:extLst>
              <a:ext uri="{FF2B5EF4-FFF2-40B4-BE49-F238E27FC236}">
                <a16:creationId xmlns:a16="http://schemas.microsoft.com/office/drawing/2014/main" id="{0F1005A4-9B50-D63A-D707-AAB8F6D6D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28800"/>
            <a:ext cx="8534400" cy="2922588"/>
          </a:xfrm>
          <a:prstGeom prst="rect">
            <a:avLst/>
          </a:prstGeom>
          <a:noFill/>
          <a:ln w="38100" cmpd="dbl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8A486EC-121B-77C3-D96A-1D7D3D5B4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CO" altLang="es-PE">
                <a:solidFill>
                  <a:srgbClr val="FFFF00"/>
                </a:solidFill>
              </a:rPr>
              <a:t>ACCION LINGUAL</a:t>
            </a:r>
            <a:endParaRPr lang="es-ES" altLang="es-PE">
              <a:solidFill>
                <a:srgbClr val="FFFF00"/>
              </a:solidFill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1FB18D5-C24A-8EC5-C8E6-F1152A97C2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5943600"/>
            <a:ext cx="7772400" cy="4114800"/>
          </a:xfrm>
        </p:spPr>
        <p:txBody>
          <a:bodyPr/>
          <a:lstStyle/>
          <a:p>
            <a:pPr eaLnBrk="1" hangingPunct="1"/>
            <a:r>
              <a:rPr lang="es-CO" altLang="es-PE" sz="1600"/>
              <a:t>LOS MOV. DE LA LENGUA SOBRE EL APARATO SE TRANSMITEN A LOS DIENTES Y MAXILARES EN SENTIDO VERTICAL Y TRASVERSAL.</a:t>
            </a:r>
            <a:endParaRPr lang="es-ES" altLang="es-PE" sz="1600"/>
          </a:p>
        </p:txBody>
      </p:sp>
      <p:pic>
        <p:nvPicPr>
          <p:cNvPr id="27652" name="Picture 4" descr="C:\Mis documentos\Postgrado Oscar\Bimler\Acción de lengua.jpg">
            <a:extLst>
              <a:ext uri="{FF2B5EF4-FFF2-40B4-BE49-F238E27FC236}">
                <a16:creationId xmlns:a16="http://schemas.microsoft.com/office/drawing/2014/main" id="{28E5D7FD-75F5-DE8E-4CCF-63034918B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828800"/>
            <a:ext cx="6324600" cy="3860800"/>
          </a:xfrm>
          <a:prstGeom prst="rect">
            <a:avLst/>
          </a:prstGeom>
          <a:noFill/>
          <a:ln w="38100" cmpd="dbl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184F5F9A-3857-5BF5-AB3C-08766EDCB7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>
                <a:solidFill>
                  <a:srgbClr val="FFFF00"/>
                </a:solidFill>
              </a:rPr>
              <a:t>TIPOS DE APARATOS</a:t>
            </a:r>
            <a:r>
              <a:rPr lang="es-CO">
                <a:solidFill>
                  <a:schemeClr val="accent1">
                    <a:satMod val="150000"/>
                  </a:schemeClr>
                </a:solidFill>
              </a:rPr>
              <a:t> </a:t>
            </a:r>
            <a:endParaRPr lang="es-ES">
              <a:solidFill>
                <a:schemeClr val="accent1">
                  <a:satMod val="150000"/>
                </a:schemeClr>
              </a:solidFill>
            </a:endParaRPr>
          </a:p>
        </p:txBody>
      </p:sp>
      <p:graphicFrame>
        <p:nvGraphicFramePr>
          <p:cNvPr id="34840" name="Object 24">
            <a:extLst>
              <a:ext uri="{FF2B5EF4-FFF2-40B4-BE49-F238E27FC236}">
                <a16:creationId xmlns:a16="http://schemas.microsoft.com/office/drawing/2014/main" id="{716AADC6-8252-3709-B138-FD7304ADDA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1785938"/>
          <a:ext cx="2714625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ía de Photo Editor" r:id="rId3" imgW="1019048" imgH="1209524" progId="MSPhotoEd.3">
                  <p:embed/>
                </p:oleObj>
              </mc:Choice>
              <mc:Fallback>
                <p:oleObj name="Fotografía de Photo Editor" r:id="rId3" imgW="1019048" imgH="1209524" progId="MSPhotoEd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1785938"/>
                        <a:ext cx="2714625" cy="300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1" name="Object 25">
            <a:extLst>
              <a:ext uri="{FF2B5EF4-FFF2-40B4-BE49-F238E27FC236}">
                <a16:creationId xmlns:a16="http://schemas.microsoft.com/office/drawing/2014/main" id="{AFE96B9A-1BE6-5A42-E680-9BBB2DD34F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4688" y="1714500"/>
          <a:ext cx="2825750" cy="315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ía de Photo Editor" r:id="rId5" imgW="1047619" imgH="1209524" progId="MSPhotoEd.3">
                  <p:embed/>
                </p:oleObj>
              </mc:Choice>
              <mc:Fallback>
                <p:oleObj name="Fotografía de Photo Editor" r:id="rId5" imgW="1047619" imgH="1209524" progId="MSPhotoEd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1714500"/>
                        <a:ext cx="2825750" cy="315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2" name="Object 26">
            <a:extLst>
              <a:ext uri="{FF2B5EF4-FFF2-40B4-BE49-F238E27FC236}">
                <a16:creationId xmlns:a16="http://schemas.microsoft.com/office/drawing/2014/main" id="{F49BF679-CE89-16CC-DBDE-EC59F32527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72188" y="1857375"/>
          <a:ext cx="2571750" cy="300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ía de Photo Editor" r:id="rId7" imgW="1000000" imgH="1219370" progId="MSPhotoEd.3">
                  <p:embed/>
                </p:oleObj>
              </mc:Choice>
              <mc:Fallback>
                <p:oleObj name="Fotografía de Photo Editor" r:id="rId7" imgW="1000000" imgH="1219370" progId="MSPhotoEd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88" y="1857375"/>
                        <a:ext cx="2571750" cy="300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8 CuadroTexto">
            <a:extLst>
              <a:ext uri="{FF2B5EF4-FFF2-40B4-BE49-F238E27FC236}">
                <a16:creationId xmlns:a16="http://schemas.microsoft.com/office/drawing/2014/main" id="{08C99FF6-A4DD-F0D3-7F06-FF0832A85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286375"/>
            <a:ext cx="7572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CO" altLang="es-PE"/>
              <a:t>A. RUCKBISS             B.  DECKBISS            C. VORBISS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7E0DECE7-9E80-2C7E-D3A6-EA984E986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1538" y="357166"/>
            <a:ext cx="7772400" cy="1447800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>
                <a:solidFill>
                  <a:srgbClr val="FFFF00"/>
                </a:solidFill>
              </a:rPr>
              <a:t>VARIACIONES DE LOS MODELADORES BASICOS</a:t>
            </a:r>
            <a:endParaRPr lang="es-ES" b="1" dirty="0">
              <a:solidFill>
                <a:srgbClr val="FFFF00"/>
              </a:solidFill>
            </a:endParaRPr>
          </a:p>
        </p:txBody>
      </p:sp>
      <p:sp>
        <p:nvSpPr>
          <p:cNvPr id="41993" name="Oval 9">
            <a:extLst>
              <a:ext uri="{FF2B5EF4-FFF2-40B4-BE49-F238E27FC236}">
                <a16:creationId xmlns:a16="http://schemas.microsoft.com/office/drawing/2014/main" id="{0B60F56B-3FF1-05C3-7F1A-17B186C11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5105400"/>
            <a:ext cx="2667000" cy="9144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s-CO" b="1"/>
              <a:t>DA   Bipro</a:t>
            </a:r>
            <a:endParaRPr lang="es-ES" b="1"/>
          </a:p>
        </p:txBody>
      </p:sp>
      <p:sp>
        <p:nvSpPr>
          <p:cNvPr id="8" name="7 Rectángulo redondeado">
            <a:extLst>
              <a:ext uri="{FF2B5EF4-FFF2-40B4-BE49-F238E27FC236}">
                <a16:creationId xmlns:a16="http://schemas.microsoft.com/office/drawing/2014/main" id="{3DBA1EA8-3EAB-8488-8580-105FBC3211BB}"/>
              </a:ext>
            </a:extLst>
          </p:cNvPr>
          <p:cNvSpPr/>
          <p:nvPr/>
        </p:nvSpPr>
        <p:spPr>
          <a:xfrm>
            <a:off x="428625" y="2000250"/>
            <a:ext cx="2286000" cy="28575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b="1" dirty="0">
                <a:latin typeface="Arial" charset="0"/>
                <a:cs typeface="Arial" charset="0"/>
              </a:rPr>
              <a:t>Hipo</a:t>
            </a:r>
            <a:endParaRPr lang="es-CO" b="1" dirty="0">
              <a:latin typeface="Arial" charset="0"/>
              <a:cs typeface="Arial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sz="2000" b="1" dirty="0">
                <a:latin typeface="Arial" charset="0"/>
                <a:cs typeface="Arial" charset="0"/>
              </a:rPr>
              <a:t>A4 Extra </a:t>
            </a:r>
            <a:endParaRPr lang="es-CO" sz="2000" b="1" dirty="0">
              <a:latin typeface="Arial" charset="0"/>
              <a:cs typeface="Arial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sz="2000" b="1" dirty="0">
                <a:latin typeface="Arial" charset="0"/>
                <a:cs typeface="Arial" charset="0"/>
              </a:rPr>
              <a:t>A5 Contra </a:t>
            </a:r>
            <a:endParaRPr lang="es-CO" sz="2000" b="1" dirty="0">
              <a:latin typeface="Arial" charset="0"/>
              <a:cs typeface="Arial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sz="2000" b="1" dirty="0">
                <a:latin typeface="Arial" charset="0"/>
                <a:cs typeface="Arial" charset="0"/>
              </a:rPr>
              <a:t>A6 Bipro</a:t>
            </a:r>
            <a:endParaRPr lang="es-ES" sz="2000" b="1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sz="2000" b="1" dirty="0">
                <a:latin typeface="Arial" charset="0"/>
                <a:cs typeface="Arial" charset="0"/>
              </a:rPr>
              <a:t>A0 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sz="2000" b="1" dirty="0">
                <a:latin typeface="Arial" charset="0"/>
                <a:cs typeface="Arial" charset="0"/>
              </a:rPr>
              <a:t>A1 Standard.</a:t>
            </a:r>
            <a:endParaRPr lang="es-ES" sz="2000" b="1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sz="2000" b="1" dirty="0">
                <a:latin typeface="Arial" charset="0"/>
                <a:cs typeface="Arial" charset="0"/>
              </a:rPr>
              <a:t>A2 Especial </a:t>
            </a:r>
            <a:endParaRPr lang="es-CO" sz="2000" b="1" dirty="0">
              <a:latin typeface="Arial" charset="0"/>
              <a:cs typeface="Arial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sz="2000" b="1" dirty="0">
                <a:latin typeface="Arial" charset="0"/>
                <a:cs typeface="Arial" charset="0"/>
              </a:rPr>
              <a:t>A3  </a:t>
            </a:r>
            <a:endParaRPr lang="es-CO" sz="2000" b="1" dirty="0">
              <a:latin typeface="Arial" charset="0"/>
              <a:cs typeface="Arial" charset="0"/>
            </a:endParaRPr>
          </a:p>
        </p:txBody>
      </p:sp>
      <p:sp>
        <p:nvSpPr>
          <p:cNvPr id="9" name="8 Rectángulo redondeado">
            <a:extLst>
              <a:ext uri="{FF2B5EF4-FFF2-40B4-BE49-F238E27FC236}">
                <a16:creationId xmlns:a16="http://schemas.microsoft.com/office/drawing/2014/main" id="{5E91382F-A189-FF92-933E-F5172F0183EF}"/>
              </a:ext>
            </a:extLst>
          </p:cNvPr>
          <p:cNvSpPr/>
          <p:nvPr/>
        </p:nvSpPr>
        <p:spPr>
          <a:xfrm>
            <a:off x="3286125" y="2000250"/>
            <a:ext cx="2214563" cy="28575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b="1" dirty="0">
                <a:latin typeface="Arial" charset="0"/>
                <a:cs typeface="Arial" charset="0"/>
              </a:rPr>
              <a:t>B2 Especial </a:t>
            </a:r>
            <a:endParaRPr lang="es-CO" b="1" dirty="0">
              <a:latin typeface="Arial" charset="0"/>
              <a:cs typeface="Arial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b="1" dirty="0">
                <a:latin typeface="Arial" charset="0"/>
                <a:cs typeface="Arial" charset="0"/>
              </a:rPr>
              <a:t>B3 Hipo</a:t>
            </a:r>
            <a:endParaRPr lang="es-ES" b="1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b="1" dirty="0">
                <a:latin typeface="Arial" charset="0"/>
                <a:cs typeface="Arial" charset="0"/>
              </a:rPr>
              <a:t>B4 Extra </a:t>
            </a:r>
            <a:endParaRPr lang="es-CO" b="1" dirty="0">
              <a:latin typeface="Arial" charset="0"/>
              <a:cs typeface="Arial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b="1" dirty="0">
                <a:latin typeface="Arial" charset="0"/>
                <a:cs typeface="Arial" charset="0"/>
              </a:rPr>
              <a:t>B5 Contra</a:t>
            </a:r>
          </a:p>
        </p:txBody>
      </p:sp>
      <p:sp>
        <p:nvSpPr>
          <p:cNvPr id="10" name="9 Rectángulo redondeado">
            <a:extLst>
              <a:ext uri="{FF2B5EF4-FFF2-40B4-BE49-F238E27FC236}">
                <a16:creationId xmlns:a16="http://schemas.microsoft.com/office/drawing/2014/main" id="{5854ABD2-0116-3A5B-0C6B-D402371A49C8}"/>
              </a:ext>
            </a:extLst>
          </p:cNvPr>
          <p:cNvSpPr/>
          <p:nvPr/>
        </p:nvSpPr>
        <p:spPr>
          <a:xfrm>
            <a:off x="6000750" y="2000250"/>
            <a:ext cx="2643188" cy="29289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b="1" dirty="0">
                <a:latin typeface="Arial" charset="0"/>
                <a:cs typeface="Arial" charset="0"/>
              </a:rPr>
              <a:t>C1 Standard </a:t>
            </a:r>
            <a:endParaRPr lang="es-CO" b="1" dirty="0">
              <a:latin typeface="Arial" charset="0"/>
              <a:cs typeface="Arial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b="1" dirty="0">
                <a:latin typeface="Arial" charset="0"/>
                <a:cs typeface="Arial" charset="0"/>
              </a:rPr>
              <a:t>C2 Especial </a:t>
            </a:r>
            <a:endParaRPr lang="es-CO" b="1" dirty="0">
              <a:latin typeface="Arial" charset="0"/>
              <a:cs typeface="Arial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b="1" dirty="0">
                <a:latin typeface="Arial" charset="0"/>
                <a:cs typeface="Arial" charset="0"/>
              </a:rPr>
              <a:t>C3 Hipo </a:t>
            </a:r>
            <a:endParaRPr lang="es-CO" b="1" dirty="0">
              <a:latin typeface="Arial" charset="0"/>
              <a:cs typeface="Arial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b="1" dirty="0">
                <a:latin typeface="Arial" charset="0"/>
                <a:cs typeface="Arial" charset="0"/>
              </a:rPr>
              <a:t>C4 Extra</a:t>
            </a:r>
            <a:endParaRPr lang="es-ES" b="1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b="1" dirty="0">
                <a:latin typeface="Arial" charset="0"/>
                <a:cs typeface="Arial" charset="0"/>
              </a:rPr>
              <a:t>C5 Contra </a:t>
            </a:r>
            <a:endParaRPr lang="es-CO" b="1" dirty="0">
              <a:latin typeface="Arial" charset="0"/>
              <a:cs typeface="Arial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s-ES" b="1" dirty="0">
                <a:latin typeface="Arial" charset="0"/>
                <a:cs typeface="Arial" charset="0"/>
              </a:rPr>
              <a:t>C6 Bipro 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3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237731D-DFE5-C29D-7B65-E548854E80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1538" y="285750"/>
            <a:ext cx="77724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BIMLER TIPO A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2762DD9-F48F-5222-56C5-D58FEAABC4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2214563"/>
            <a:ext cx="7772400" cy="4114800"/>
          </a:xfrm>
        </p:spPr>
        <p:txBody>
          <a:bodyPr/>
          <a:lstStyle/>
          <a:p>
            <a:pPr eaLnBrk="1" hangingPunct="1"/>
            <a:r>
              <a:rPr lang="es-CO" altLang="es-PE" sz="2400"/>
              <a:t>EN MALOCLUSION CLASE I Y II/1  MIXTA Y PERMANENTE.</a:t>
            </a:r>
          </a:p>
          <a:p>
            <a:pPr eaLnBrk="1" hangingPunct="1"/>
            <a:r>
              <a:rPr lang="es-CO" altLang="es-PE" sz="2400"/>
              <a:t>EN CASOS DE MORDIDA ABIERTA, LOS RESORTE FRONTALES Y EL LAZO FRONTAL SIRVEN DE ESCUDO  LINGUAL EN EL MAXILAR INFERIOR.</a:t>
            </a:r>
          </a:p>
          <a:p>
            <a:pPr eaLnBrk="1" hangingPunct="1"/>
            <a:r>
              <a:rPr lang="es-CO" altLang="es-PE" sz="2400"/>
              <a:t>EXTENSIÓN COORDINADA EN LOS MAXILARES.</a:t>
            </a:r>
          </a:p>
          <a:p>
            <a:pPr eaLnBrk="1" hangingPunct="1"/>
            <a:r>
              <a:rPr lang="es-CO" altLang="es-PE" sz="2400"/>
              <a:t>RETRUSION DEL FRENTE SUPERIOR.</a:t>
            </a:r>
          </a:p>
          <a:p>
            <a:pPr eaLnBrk="1" hangingPunct="1"/>
            <a:r>
              <a:rPr lang="es-CO" altLang="es-PE" sz="2400"/>
              <a:t>CAMBIO SIMULTANEO DE LA MORDIDA EN CLASE II /1</a:t>
            </a:r>
            <a:endParaRPr lang="es-ES" altLang="es-PE" sz="2400"/>
          </a:p>
        </p:txBody>
      </p:sp>
      <p:sp>
        <p:nvSpPr>
          <p:cNvPr id="29700" name="Rectangle 5">
            <a:extLst>
              <a:ext uri="{FF2B5EF4-FFF2-40B4-BE49-F238E27FC236}">
                <a16:creationId xmlns:a16="http://schemas.microsoft.com/office/drawing/2014/main" id="{192D1BC2-940A-ECDE-9B27-47FC99DB7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2628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CO" altLang="es-PE"/>
          </a:p>
        </p:txBody>
      </p:sp>
      <p:sp>
        <p:nvSpPr>
          <p:cNvPr id="29701" name="Rectangle 7">
            <a:extLst>
              <a:ext uri="{FF2B5EF4-FFF2-40B4-BE49-F238E27FC236}">
                <a16:creationId xmlns:a16="http://schemas.microsoft.com/office/drawing/2014/main" id="{BFD11820-02BF-8D59-FE54-839E4E405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757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CO" altLang="es-PE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1 Título">
            <a:extLst>
              <a:ext uri="{FF2B5EF4-FFF2-40B4-BE49-F238E27FC236}">
                <a16:creationId xmlns:a16="http://schemas.microsoft.com/office/drawing/2014/main" id="{961526F8-9956-FA43-EA5F-A6C071364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 </a:t>
            </a:r>
            <a:r>
              <a:rPr lang="es-CO" b="1" dirty="0">
                <a:solidFill>
                  <a:schemeClr val="accent1">
                    <a:satMod val="150000"/>
                  </a:schemeClr>
                </a:solidFill>
              </a:rPr>
              <a:t>TIPO A</a:t>
            </a:r>
          </a:p>
        </p:txBody>
      </p:sp>
      <p:pic>
        <p:nvPicPr>
          <p:cNvPr id="30723" name="Picture 2" descr="C:\Users\Daniel\Pictures\2010-09-08 ADF-ORTOPEDIA\ADT-ORTOPEDIA 020.JPG">
            <a:extLst>
              <a:ext uri="{FF2B5EF4-FFF2-40B4-BE49-F238E27FC236}">
                <a16:creationId xmlns:a16="http://schemas.microsoft.com/office/drawing/2014/main" id="{9556E456-0CCC-2937-59CB-5A3A292D62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7" t="4724" r="5769" b="5528"/>
          <a:stretch>
            <a:fillRect/>
          </a:stretch>
        </p:blipFill>
        <p:spPr>
          <a:xfrm>
            <a:off x="785813" y="2071688"/>
            <a:ext cx="3357562" cy="4071937"/>
          </a:xfrm>
          <a:noFill/>
        </p:spPr>
      </p:pic>
      <p:pic>
        <p:nvPicPr>
          <p:cNvPr id="30724" name="Picture 2" descr="C:\Users\Daniel\Pictures\2010-09-08 ADF-ORTOPEDIA\ADT-ORTOPEDIA 027.JPG">
            <a:extLst>
              <a:ext uri="{FF2B5EF4-FFF2-40B4-BE49-F238E27FC236}">
                <a16:creationId xmlns:a16="http://schemas.microsoft.com/office/drawing/2014/main" id="{4C0F59D3-9BA2-0481-B4F0-0D09FDE5C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1" b="8929"/>
          <a:stretch>
            <a:fillRect/>
          </a:stretch>
        </p:blipFill>
        <p:spPr bwMode="auto">
          <a:xfrm>
            <a:off x="4360863" y="1928813"/>
            <a:ext cx="4598987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>
            <a:extLst>
              <a:ext uri="{FF2B5EF4-FFF2-40B4-BE49-F238E27FC236}">
                <a16:creationId xmlns:a16="http://schemas.microsoft.com/office/drawing/2014/main" id="{151277D7-EF29-4F60-F0D3-2C84F3E579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214438"/>
            <a:ext cx="4786313" cy="4706937"/>
          </a:xfrm>
          <a:noFill/>
        </p:spPr>
      </p:pic>
      <p:pic>
        <p:nvPicPr>
          <p:cNvPr id="31747" name="Picture 2">
            <a:extLst>
              <a:ext uri="{FF2B5EF4-FFF2-40B4-BE49-F238E27FC236}">
                <a16:creationId xmlns:a16="http://schemas.microsoft.com/office/drawing/2014/main" id="{F15471A7-2E2D-C9B9-F6E9-A2640E537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5" y="642938"/>
            <a:ext cx="3143250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Picture 3">
            <a:extLst>
              <a:ext uri="{FF2B5EF4-FFF2-40B4-BE49-F238E27FC236}">
                <a16:creationId xmlns:a16="http://schemas.microsoft.com/office/drawing/2014/main" id="{910131FD-D226-6C6B-D480-EC190F0E4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3" y="3714750"/>
            <a:ext cx="3071812" cy="292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1 Título">
            <a:extLst>
              <a:ext uri="{FF2B5EF4-FFF2-40B4-BE49-F238E27FC236}">
                <a16:creationId xmlns:a16="http://schemas.microsoft.com/office/drawing/2014/main" id="{7DEDA022-DD01-DB18-A8D9-432A9C02A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14313"/>
            <a:ext cx="77724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3600" dirty="0">
                <a:solidFill>
                  <a:schemeClr val="accent1">
                    <a:satMod val="150000"/>
                  </a:schemeClr>
                </a:solidFill>
              </a:rPr>
              <a:t>MODO DE OBRAR DE  LOS  TIPO A</a:t>
            </a:r>
          </a:p>
        </p:txBody>
      </p:sp>
      <p:sp>
        <p:nvSpPr>
          <p:cNvPr id="32771" name="4 Marcador de contenido">
            <a:extLst>
              <a:ext uri="{FF2B5EF4-FFF2-40B4-BE49-F238E27FC236}">
                <a16:creationId xmlns:a16="http://schemas.microsoft.com/office/drawing/2014/main" id="{7D08580E-4F5A-57A8-95AE-31C30BAC2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88" y="1857375"/>
            <a:ext cx="8229600" cy="4625975"/>
          </a:xfrm>
        </p:spPr>
        <p:txBody>
          <a:bodyPr/>
          <a:lstStyle/>
          <a:p>
            <a:pPr eaLnBrk="1" hangingPunct="1"/>
            <a:r>
              <a:rPr lang="es-CO" altLang="es-PE" sz="2400"/>
              <a:t>Retrusion en el maxilar superior </a:t>
            </a:r>
          </a:p>
          <a:p>
            <a:pPr eaLnBrk="1" hangingPunct="1"/>
            <a:r>
              <a:rPr lang="es-CO" altLang="es-PE" sz="2400"/>
              <a:t>Protusion en el maxilar inferior </a:t>
            </a:r>
          </a:p>
          <a:p>
            <a:pPr eaLnBrk="1" hangingPunct="1"/>
            <a:r>
              <a:rPr lang="es-CO" altLang="es-PE" sz="2400"/>
              <a:t>Clase II/1</a:t>
            </a:r>
          </a:p>
          <a:p>
            <a:pPr eaLnBrk="1" hangingPunct="1"/>
            <a:endParaRPr lang="es-CO" altLang="es-PE"/>
          </a:p>
        </p:txBody>
      </p:sp>
      <p:pic>
        <p:nvPicPr>
          <p:cNvPr id="32772" name="Picture 3" descr="C:\Users\Daniel\Pictures\2010-09-08 ADF-ORTOPEDIA\ADT-ORTOPEDIA 024.JPG">
            <a:extLst>
              <a:ext uri="{FF2B5EF4-FFF2-40B4-BE49-F238E27FC236}">
                <a16:creationId xmlns:a16="http://schemas.microsoft.com/office/drawing/2014/main" id="{C0DB34CE-FC47-B3D7-FF8A-04BEAF8AB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600" y="2060575"/>
            <a:ext cx="3970338" cy="429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2" descr="C:\Users\Daniel\Pictures\2010-09-08 ADF-ORTOPEDIA\ADT-ORTOPEDIA 023.JPG">
            <a:extLst>
              <a:ext uri="{FF2B5EF4-FFF2-40B4-BE49-F238E27FC236}">
                <a16:creationId xmlns:a16="http://schemas.microsoft.com/office/drawing/2014/main" id="{B45AB208-9CEB-13C9-47F6-CC8800E77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3" y="3571875"/>
            <a:ext cx="3563937" cy="288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1 Título">
            <a:extLst>
              <a:ext uri="{FF2B5EF4-FFF2-40B4-BE49-F238E27FC236}">
                <a16:creationId xmlns:a16="http://schemas.microsoft.com/office/drawing/2014/main" id="{33FDAE6F-BFF6-786E-1269-4B18AB8EB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3200" dirty="0">
                <a:solidFill>
                  <a:schemeClr val="accent1">
                    <a:satMod val="150000"/>
                  </a:schemeClr>
                </a:solidFill>
              </a:rPr>
              <a:t>A-0 APARATO SIMPLEX PARA CLASE I Y CASOS LEVES DE LA CLASE III</a:t>
            </a:r>
          </a:p>
        </p:txBody>
      </p:sp>
      <p:pic>
        <p:nvPicPr>
          <p:cNvPr id="33795" name="Picture 2" descr="C:\Users\Daniel\Pictures\2010-09-08 ADF-ORTOPEDIA\ADT-ORTOPEDIA 027.JPG">
            <a:extLst>
              <a:ext uri="{FF2B5EF4-FFF2-40B4-BE49-F238E27FC236}">
                <a16:creationId xmlns:a16="http://schemas.microsoft.com/office/drawing/2014/main" id="{A19609AA-8C08-C6FE-2257-76D3798D85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9" r="5357" b="8611"/>
          <a:stretch>
            <a:fillRect/>
          </a:stretch>
        </p:blipFill>
        <p:spPr>
          <a:xfrm>
            <a:off x="96838" y="2571750"/>
            <a:ext cx="3578225" cy="3214688"/>
          </a:xfrm>
          <a:noFill/>
        </p:spPr>
      </p:pic>
      <p:pic>
        <p:nvPicPr>
          <p:cNvPr id="33796" name="Picture 3" descr="C:\Users\Daniel\Pictures\2010-09-08 ADF-ORTOPEDIA\ADT-ORTOPEDIA 028.JPG">
            <a:extLst>
              <a:ext uri="{FF2B5EF4-FFF2-40B4-BE49-F238E27FC236}">
                <a16:creationId xmlns:a16="http://schemas.microsoft.com/office/drawing/2014/main" id="{DC7C0644-4CB3-09A1-EA90-A6AC9C4F2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9" t="4082" b="6122"/>
          <a:stretch>
            <a:fillRect/>
          </a:stretch>
        </p:blipFill>
        <p:spPr bwMode="auto">
          <a:xfrm>
            <a:off x="3929063" y="2500313"/>
            <a:ext cx="4929187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4A7BDB1-7994-F681-7A41-F24A148BE7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443912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2800" b="1" dirty="0">
                <a:solidFill>
                  <a:schemeClr val="accent1">
                    <a:satMod val="150000"/>
                  </a:schemeClr>
                </a:solidFill>
              </a:rPr>
              <a:t>A-0 APARATO SIMPLEX PARA CLASE I Y CASOS LEVES DEL A CLASE III</a:t>
            </a:r>
            <a:endParaRPr lang="es-ES" sz="2800" b="1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2E3E126-C49C-30C1-9D43-D8B13081CEA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1773238"/>
            <a:ext cx="7615238" cy="4624387"/>
          </a:xfrm>
        </p:spPr>
        <p:txBody>
          <a:bodyPr/>
          <a:lstStyle/>
          <a:p>
            <a:pPr eaLnBrk="1" hangingPunct="1"/>
            <a:r>
              <a:rPr lang="es-CO" altLang="es-PE"/>
              <a:t>Para clase I  con biprotusion y  con tendencias clase III </a:t>
            </a:r>
          </a:p>
          <a:p>
            <a:pPr eaLnBrk="1" hangingPunct="1"/>
            <a:r>
              <a:rPr lang="es-CO" altLang="es-PE"/>
              <a:t>Como retenedor ( En clase I ) despues de ortodoncia</a:t>
            </a:r>
          </a:p>
          <a:p>
            <a:pPr eaLnBrk="1" hangingPunct="1"/>
            <a:r>
              <a:rPr lang="es-CO" altLang="es-PE"/>
              <a:t>Con resortes frontales ensanchados puede ser empleado prara mordidas abiertas</a:t>
            </a:r>
          </a:p>
          <a:p>
            <a:pPr eaLnBrk="1" hangingPunct="1"/>
            <a:r>
              <a:rPr lang="es-CO" altLang="es-PE"/>
              <a:t>Tratamiento interceptivo   ( 3-7 años ) para evitar apiñamientos anterior </a:t>
            </a:r>
            <a:endParaRPr lang="es-ES" altLang="es-PE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1 Título">
            <a:extLst>
              <a:ext uri="{FF2B5EF4-FFF2-40B4-BE49-F238E27FC236}">
                <a16:creationId xmlns:a16="http://schemas.microsoft.com/office/drawing/2014/main" id="{F0550E89-25CE-FB42-0A8C-047C7C412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A-1 APARATO ESTANDAR</a:t>
            </a:r>
          </a:p>
        </p:txBody>
      </p:sp>
      <p:pic>
        <p:nvPicPr>
          <p:cNvPr id="35843" name="Picture 2" descr="C:\Users\Daniel\Pictures\2010-09-08 ADF-ORTOPEDIA\ADT-ORTOPEDIA 029.JPG">
            <a:extLst>
              <a:ext uri="{FF2B5EF4-FFF2-40B4-BE49-F238E27FC236}">
                <a16:creationId xmlns:a16="http://schemas.microsoft.com/office/drawing/2014/main" id="{77557321-5662-E3BA-E375-7453093B48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2"/>
          <a:stretch>
            <a:fillRect/>
          </a:stretch>
        </p:blipFill>
        <p:spPr>
          <a:xfrm>
            <a:off x="290513" y="2500313"/>
            <a:ext cx="3138487" cy="3341687"/>
          </a:xfrm>
          <a:noFill/>
        </p:spPr>
      </p:pic>
      <p:pic>
        <p:nvPicPr>
          <p:cNvPr id="35844" name="Picture 3" descr="C:\Users\Daniel\Pictures\2010-09-08 ADF-ORTOPEDIA\ADT-ORTOPEDIA 030.JPG">
            <a:extLst>
              <a:ext uri="{FF2B5EF4-FFF2-40B4-BE49-F238E27FC236}">
                <a16:creationId xmlns:a16="http://schemas.microsoft.com/office/drawing/2014/main" id="{86E4968D-69EF-B792-E05E-D42706CAF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9" t="2834" r="1149" b="2023"/>
          <a:stretch>
            <a:fillRect/>
          </a:stretch>
        </p:blipFill>
        <p:spPr bwMode="auto">
          <a:xfrm>
            <a:off x="3500438" y="2500313"/>
            <a:ext cx="5357812" cy="335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EBC405A5-C4E8-0A4E-1D13-CF8C10D53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A-1 APARATO ESTANDAR</a:t>
            </a:r>
          </a:p>
        </p:txBody>
      </p:sp>
      <p:sp>
        <p:nvSpPr>
          <p:cNvPr id="36867" name="2 Marcador de contenido">
            <a:extLst>
              <a:ext uri="{FF2B5EF4-FFF2-40B4-BE49-F238E27FC236}">
                <a16:creationId xmlns:a16="http://schemas.microsoft.com/office/drawing/2014/main" id="{4976AD5C-E653-C67B-D5F9-26B7E079B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CO" altLang="es-PE"/>
              <a:t>Se usa para clases I  y clase II/2 en denticion temporal y permanente</a:t>
            </a:r>
          </a:p>
          <a:p>
            <a:pPr eaLnBrk="1" hangingPunct="1"/>
            <a:r>
              <a:rPr lang="es-CO" altLang="es-PE"/>
              <a:t>En incisivos superiores endereza y en inferiores evita la proinclinacion(lazo lingual)</a:t>
            </a:r>
          </a:p>
          <a:p>
            <a:pPr eaLnBrk="1" hangingPunct="1"/>
            <a:r>
              <a:rPr lang="es-CO" altLang="es-PE"/>
              <a:t>En casos de mordida abierta los resortes frontales y el lazo frontal sirven de escudo lingual en el max inf.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1 Título">
            <a:extLst>
              <a:ext uri="{FF2B5EF4-FFF2-40B4-BE49-F238E27FC236}">
                <a16:creationId xmlns:a16="http://schemas.microsoft.com/office/drawing/2014/main" id="{7113F10A-6D78-1B01-C4FF-F443C931C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0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A-2 ESPECIAL</a:t>
            </a:r>
          </a:p>
        </p:txBody>
      </p:sp>
      <p:pic>
        <p:nvPicPr>
          <p:cNvPr id="37891" name="Picture 2" descr="C:\Users\Daniel\Pictures\2010-09-08 ADF-ORTOPEDIA\ADT-ORTOPEDIA 031.JPG">
            <a:extLst>
              <a:ext uri="{FF2B5EF4-FFF2-40B4-BE49-F238E27FC236}">
                <a16:creationId xmlns:a16="http://schemas.microsoft.com/office/drawing/2014/main" id="{A1172C51-6735-BCAE-BDD8-55A12F915F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" t="6438" r="5939" b="3448"/>
          <a:stretch>
            <a:fillRect/>
          </a:stretch>
        </p:blipFill>
        <p:spPr>
          <a:xfrm>
            <a:off x="285750" y="2214563"/>
            <a:ext cx="3071813" cy="4000500"/>
          </a:xfrm>
          <a:noFill/>
        </p:spPr>
      </p:pic>
      <p:pic>
        <p:nvPicPr>
          <p:cNvPr id="37892" name="Picture 3" descr="C:\Users\Daniel\Pictures\2010-09-08 ADF-ORTOPEDIA\ADT-ORTOPEDIA 032.JPG">
            <a:extLst>
              <a:ext uri="{FF2B5EF4-FFF2-40B4-BE49-F238E27FC236}">
                <a16:creationId xmlns:a16="http://schemas.microsoft.com/office/drawing/2014/main" id="{CA7E9EBC-809E-50DC-4A48-3EACA3907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75" y="2214563"/>
            <a:ext cx="5270500" cy="352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D18BC25B-E6BE-EDFB-943F-708386B4D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A-2 ESPECIAL</a:t>
            </a:r>
          </a:p>
        </p:txBody>
      </p:sp>
      <p:sp>
        <p:nvSpPr>
          <p:cNvPr id="38915" name="2 Marcador de contenido">
            <a:extLst>
              <a:ext uri="{FF2B5EF4-FFF2-40B4-BE49-F238E27FC236}">
                <a16:creationId xmlns:a16="http://schemas.microsoft.com/office/drawing/2014/main" id="{F91CD50B-0458-13EA-2003-613A11DE0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CO" altLang="es-PE"/>
              <a:t>Emplea resortes interdentales para rotaciones, cierre de diastemas .</a:t>
            </a:r>
          </a:p>
          <a:p>
            <a:pPr eaLnBrk="1" hangingPunct="1"/>
            <a:r>
              <a:rPr lang="es-CO" altLang="es-PE"/>
              <a:t>Facilita la expansion coordinada de arcos para evitar apiñamiento.</a:t>
            </a:r>
          </a:p>
          <a:p>
            <a:pPr eaLnBrk="1" hangingPunct="1"/>
            <a:r>
              <a:rPr lang="es-CO" altLang="es-PE"/>
              <a:t>Se usa en denticion mixta y permanente.</a:t>
            </a:r>
          </a:p>
          <a:p>
            <a:pPr eaLnBrk="1" hangingPunct="1"/>
            <a:endParaRPr lang="es-CO" altLang="es-PE"/>
          </a:p>
          <a:p>
            <a:pPr eaLnBrk="1" hangingPunct="1"/>
            <a:endParaRPr lang="es-CO" altLang="es-PE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1 Título">
            <a:extLst>
              <a:ext uri="{FF2B5EF4-FFF2-40B4-BE49-F238E27FC236}">
                <a16:creationId xmlns:a16="http://schemas.microsoft.com/office/drawing/2014/main" id="{6ED22CCE-5454-D4CA-2884-7BE54D609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A-3 APARATO HIPO </a:t>
            </a:r>
            <a:r>
              <a:rPr lang="es-CO" sz="1600" dirty="0">
                <a:solidFill>
                  <a:schemeClr val="accent1">
                    <a:satMod val="150000"/>
                  </a:schemeClr>
                </a:solidFill>
              </a:rPr>
              <a:t>(HIPOLASIA MAXILAR)</a:t>
            </a: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 </a:t>
            </a:r>
          </a:p>
        </p:txBody>
      </p:sp>
      <p:pic>
        <p:nvPicPr>
          <p:cNvPr id="39939" name="Picture 2" descr="C:\Users\Daniel\Pictures\2010-09-08 ADF-ORTOPEDIA\ADT-ORTOPEDIA 033.JPG">
            <a:extLst>
              <a:ext uri="{FF2B5EF4-FFF2-40B4-BE49-F238E27FC236}">
                <a16:creationId xmlns:a16="http://schemas.microsoft.com/office/drawing/2014/main" id="{1D3FC955-917B-AF55-91F2-73BC0162C8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58" r="11844" b="5087"/>
          <a:stretch>
            <a:fillRect/>
          </a:stretch>
        </p:blipFill>
        <p:spPr>
          <a:xfrm>
            <a:off x="285750" y="2286000"/>
            <a:ext cx="3143250" cy="3643313"/>
          </a:xfrm>
          <a:noFill/>
        </p:spPr>
      </p:pic>
      <p:pic>
        <p:nvPicPr>
          <p:cNvPr id="39940" name="Picture 3" descr="C:\Users\Daniel\Pictures\2010-09-08 ADF-ORTOPEDIA\ADT-ORTOPEDIA 034.JPG">
            <a:extLst>
              <a:ext uri="{FF2B5EF4-FFF2-40B4-BE49-F238E27FC236}">
                <a16:creationId xmlns:a16="http://schemas.microsoft.com/office/drawing/2014/main" id="{EE67C03F-0289-4270-21D2-4A789F5B6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6"/>
          <a:stretch>
            <a:fillRect/>
          </a:stretch>
        </p:blipFill>
        <p:spPr bwMode="auto">
          <a:xfrm>
            <a:off x="3429000" y="2428875"/>
            <a:ext cx="5462588" cy="350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7E88C017-5E15-1B07-A4C7-92A168802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3200" dirty="0">
                <a:solidFill>
                  <a:schemeClr val="accent1">
                    <a:satMod val="150000"/>
                  </a:schemeClr>
                </a:solidFill>
              </a:rPr>
              <a:t>A-3 APARATO HIPO (HIPOLASIA MAXILAR) </a:t>
            </a:r>
          </a:p>
        </p:txBody>
      </p:sp>
      <p:sp>
        <p:nvSpPr>
          <p:cNvPr id="40963" name="2 Marcador de contenido">
            <a:extLst>
              <a:ext uri="{FF2B5EF4-FFF2-40B4-BE49-F238E27FC236}">
                <a16:creationId xmlns:a16="http://schemas.microsoft.com/office/drawing/2014/main" id="{C280BED2-4920-5E54-545D-D00A2ED57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CO" altLang="es-PE"/>
              <a:t>Se usa en casos de mordida cruzada uni o bilateral acompañados con resortes.</a:t>
            </a:r>
          </a:p>
          <a:p>
            <a:pPr eaLnBrk="1" hangingPunct="1"/>
            <a:r>
              <a:rPr lang="es-CO" altLang="es-PE"/>
              <a:t>Una vez lograda la expansion se cambia el resorte por un resorte de coffin R.</a:t>
            </a:r>
          </a:p>
          <a:p>
            <a:pPr eaLnBrk="1" hangingPunct="1"/>
            <a:r>
              <a:rPr lang="es-CO" altLang="es-PE"/>
              <a:t>Si no funciona se debe pensar en extracciones o una placa sagital 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1 Título">
            <a:extLst>
              <a:ext uri="{FF2B5EF4-FFF2-40B4-BE49-F238E27FC236}">
                <a16:creationId xmlns:a16="http://schemas.microsoft.com/office/drawing/2014/main" id="{FD4182C4-0806-955E-5D60-F377CA1D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2800" dirty="0">
                <a:solidFill>
                  <a:schemeClr val="accent1">
                    <a:satMod val="150000"/>
                  </a:schemeClr>
                </a:solidFill>
              </a:rPr>
              <a:t>A-4 EXTRA PARA CASOS DE EXTRACCION</a:t>
            </a:r>
          </a:p>
        </p:txBody>
      </p:sp>
      <p:pic>
        <p:nvPicPr>
          <p:cNvPr id="41987" name="Picture 2" descr="C:\Users\Daniel\Pictures\2010-09-08 ADF-ORTOPEDIA\ADT-ORTOPEDIA 035.JPG">
            <a:extLst>
              <a:ext uri="{FF2B5EF4-FFF2-40B4-BE49-F238E27FC236}">
                <a16:creationId xmlns:a16="http://schemas.microsoft.com/office/drawing/2014/main" id="{B15F3810-6535-6BEF-BF46-995874E126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59"/>
          <a:stretch>
            <a:fillRect/>
          </a:stretch>
        </p:blipFill>
        <p:spPr>
          <a:xfrm>
            <a:off x="214313" y="2571750"/>
            <a:ext cx="2928937" cy="3571875"/>
          </a:xfrm>
          <a:noFill/>
        </p:spPr>
      </p:pic>
      <p:pic>
        <p:nvPicPr>
          <p:cNvPr id="41988" name="Picture 3" descr="C:\Users\Daniel\Pictures\2010-09-08 ADF-ORTOPEDIA\ADT-ORTOPEDIA 036.JPG">
            <a:extLst>
              <a:ext uri="{FF2B5EF4-FFF2-40B4-BE49-F238E27FC236}">
                <a16:creationId xmlns:a16="http://schemas.microsoft.com/office/drawing/2014/main" id="{DCC22C77-828E-1A3B-FB67-91E6C47CD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8"/>
          <a:stretch>
            <a:fillRect/>
          </a:stretch>
        </p:blipFill>
        <p:spPr bwMode="auto">
          <a:xfrm>
            <a:off x="3281363" y="2786063"/>
            <a:ext cx="5434012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7FCEB656-A5D7-0496-F5E5-6B87A6C6D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3200" dirty="0">
                <a:solidFill>
                  <a:schemeClr val="accent1">
                    <a:satMod val="150000"/>
                  </a:schemeClr>
                </a:solidFill>
              </a:rPr>
              <a:t>A-4 EXTRA PARA CASOS DE EXTRACCION</a:t>
            </a:r>
          </a:p>
        </p:txBody>
      </p:sp>
      <p:sp>
        <p:nvSpPr>
          <p:cNvPr id="43011" name="2 Marcador de contenido">
            <a:extLst>
              <a:ext uri="{FF2B5EF4-FFF2-40B4-BE49-F238E27FC236}">
                <a16:creationId xmlns:a16="http://schemas.microsoft.com/office/drawing/2014/main" id="{3D3BDB82-E6B3-3C9E-BFD8-654812282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CO" altLang="es-PE"/>
              <a:t>Se usa en casos de extracciones de premolares,cuando no se ha tenido éxito en tratamientos sin extracciones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1 Título">
            <a:extLst>
              <a:ext uri="{FF2B5EF4-FFF2-40B4-BE49-F238E27FC236}">
                <a16:creationId xmlns:a16="http://schemas.microsoft.com/office/drawing/2014/main" id="{4560D0D9-F1A7-9EFD-ED29-909391961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A-5 CONTRA </a:t>
            </a:r>
            <a:r>
              <a:rPr lang="es-CO" sz="2000" dirty="0">
                <a:solidFill>
                  <a:schemeClr val="accent1">
                    <a:satMod val="150000"/>
                  </a:schemeClr>
                </a:solidFill>
              </a:rPr>
              <a:t>(PARA CASOS DE NON OCLUSION)</a:t>
            </a:r>
          </a:p>
        </p:txBody>
      </p:sp>
      <p:pic>
        <p:nvPicPr>
          <p:cNvPr id="44035" name="Picture 2" descr="C:\Users\Daniel\Pictures\2010-09-08 ADF-ORTOPEDIA\ADT-ORTOPEDIA 037.JPG">
            <a:extLst>
              <a:ext uri="{FF2B5EF4-FFF2-40B4-BE49-F238E27FC236}">
                <a16:creationId xmlns:a16="http://schemas.microsoft.com/office/drawing/2014/main" id="{55375B53-A548-E1E0-6B1D-B7D9EA52A1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9804" r="5353" b="9804"/>
          <a:stretch>
            <a:fillRect/>
          </a:stretch>
        </p:blipFill>
        <p:spPr>
          <a:xfrm>
            <a:off x="285750" y="2786063"/>
            <a:ext cx="2886075" cy="3286125"/>
          </a:xfrm>
          <a:noFill/>
        </p:spPr>
      </p:pic>
      <p:pic>
        <p:nvPicPr>
          <p:cNvPr id="44036" name="Picture 3" descr="C:\Users\Daniel\Pictures\2010-09-08 ADF-ORTOPEDIA\ADT-ORTOPEDIA 038.JPG">
            <a:extLst>
              <a:ext uri="{FF2B5EF4-FFF2-40B4-BE49-F238E27FC236}">
                <a16:creationId xmlns:a16="http://schemas.microsoft.com/office/drawing/2014/main" id="{A64B8203-DF00-081D-0398-CF96D4BCB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4"/>
          <a:stretch>
            <a:fillRect/>
          </a:stretch>
        </p:blipFill>
        <p:spPr bwMode="auto">
          <a:xfrm>
            <a:off x="3228975" y="2506663"/>
            <a:ext cx="5299075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617C91B7-9971-E417-5946-9DA3F7B83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2800" dirty="0">
                <a:solidFill>
                  <a:schemeClr val="accent1">
                    <a:satMod val="150000"/>
                  </a:schemeClr>
                </a:solidFill>
              </a:rPr>
              <a:t>A-5 CONTRA (PARA CASOS DE NON OCLUSION)</a:t>
            </a:r>
          </a:p>
        </p:txBody>
      </p:sp>
      <p:sp>
        <p:nvSpPr>
          <p:cNvPr id="45059" name="2 Marcador de contenido">
            <a:extLst>
              <a:ext uri="{FF2B5EF4-FFF2-40B4-BE49-F238E27FC236}">
                <a16:creationId xmlns:a16="http://schemas.microsoft.com/office/drawing/2014/main" id="{72226A5C-FAE7-8D79-B684-023C90FC4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CO" altLang="es-PE"/>
              <a:t>Se usa en dientes laterales cuando no haya  oclusion</a:t>
            </a:r>
          </a:p>
          <a:p>
            <a:pPr eaLnBrk="1" hangingPunct="1"/>
            <a:r>
              <a:rPr lang="es-CO" altLang="es-PE"/>
              <a:t>En casos de mordida telescopica</a:t>
            </a:r>
          </a:p>
          <a:p>
            <a:pPr eaLnBrk="1" hangingPunct="1"/>
            <a:r>
              <a:rPr lang="es-CO" altLang="es-PE"/>
              <a:t>Cuando la arcada superior sobrepasa la inferior en exceso.</a:t>
            </a:r>
          </a:p>
          <a:p>
            <a:pPr eaLnBrk="1" hangingPunct="1"/>
            <a:r>
              <a:rPr lang="es-CO" altLang="es-PE"/>
              <a:t>Importante la colaboracion del paciente.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1 Título">
            <a:extLst>
              <a:ext uri="{FF2B5EF4-FFF2-40B4-BE49-F238E27FC236}">
                <a16:creationId xmlns:a16="http://schemas.microsoft.com/office/drawing/2014/main" id="{8E36225A-E65D-C92E-D845-A25AF712E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2800" dirty="0">
                <a:solidFill>
                  <a:schemeClr val="accent1">
                    <a:satMod val="150000"/>
                  </a:schemeClr>
                </a:solidFill>
              </a:rPr>
              <a:t>LOS APARATOS “B” PARA CLASE II DIVISION 2</a:t>
            </a:r>
          </a:p>
        </p:txBody>
      </p:sp>
      <p:pic>
        <p:nvPicPr>
          <p:cNvPr id="46083" name="Picture 2" descr="C:\Users\Daniel\Pictures\2010-09-08 ADF-ORTOPEDIA\ADT-ORTOPEDIA 039.JPG">
            <a:extLst>
              <a:ext uri="{FF2B5EF4-FFF2-40B4-BE49-F238E27FC236}">
                <a16:creationId xmlns:a16="http://schemas.microsoft.com/office/drawing/2014/main" id="{BECC8BD9-528F-2394-7BA5-70EEDEB40A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8625" y="2500313"/>
            <a:ext cx="2406650" cy="2154237"/>
          </a:xfrm>
          <a:noFill/>
        </p:spPr>
      </p:pic>
      <p:pic>
        <p:nvPicPr>
          <p:cNvPr id="46084" name="Picture 3" descr="C:\Users\Daniel\Pictures\2010-09-08 ADF-ORTOPEDIA\ADT-ORTOPEDIA 040.JPG">
            <a:extLst>
              <a:ext uri="{FF2B5EF4-FFF2-40B4-BE49-F238E27FC236}">
                <a16:creationId xmlns:a16="http://schemas.microsoft.com/office/drawing/2014/main" id="{13F97B50-CF68-ECC4-6E62-58577ABD4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2428875"/>
            <a:ext cx="5605463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>
            <a:extLst>
              <a:ext uri="{FF2B5EF4-FFF2-40B4-BE49-F238E27FC236}">
                <a16:creationId xmlns:a16="http://schemas.microsoft.com/office/drawing/2014/main" id="{8E77FFD4-D56E-3355-73B4-25BD3955AC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14313" y="928688"/>
            <a:ext cx="5500688" cy="4481512"/>
          </a:xfrm>
          <a:noFill/>
        </p:spPr>
      </p:pic>
      <p:pic>
        <p:nvPicPr>
          <p:cNvPr id="47107" name="Picture 2">
            <a:extLst>
              <a:ext uri="{FF2B5EF4-FFF2-40B4-BE49-F238E27FC236}">
                <a16:creationId xmlns:a16="http://schemas.microsoft.com/office/drawing/2014/main" id="{8B33972D-0D34-720F-71A3-00FAF6791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785813"/>
            <a:ext cx="3214687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3">
            <a:extLst>
              <a:ext uri="{FF2B5EF4-FFF2-40B4-BE49-F238E27FC236}">
                <a16:creationId xmlns:a16="http://schemas.microsoft.com/office/drawing/2014/main" id="{B274C033-785B-5221-B7E8-7F0FE0155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3" y="3857625"/>
            <a:ext cx="3357562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5BF80360-F480-0289-16FB-F780A39F2A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-38100"/>
            <a:ext cx="7772400" cy="1752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2800" dirty="0">
                <a:solidFill>
                  <a:schemeClr val="accent1">
                    <a:satMod val="150000"/>
                  </a:schemeClr>
                </a:solidFill>
              </a:rPr>
              <a:t>LOS APARATOS “B” PARA  CLASE II DIVISION 2</a:t>
            </a:r>
            <a:endParaRPr lang="es-ES" sz="2800" dirty="0">
              <a:solidFill>
                <a:srgbClr val="FFFF00"/>
              </a:solidFill>
            </a:endParaRP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295CDC28-4474-393C-7A4C-9E38B85A66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071688"/>
            <a:ext cx="7772400" cy="1981200"/>
          </a:xfrm>
        </p:spPr>
        <p:txBody>
          <a:bodyPr/>
          <a:lstStyle/>
          <a:p>
            <a:pPr marL="438150" indent="-319088" eaLnBrk="1" hangingPunct="1">
              <a:lnSpc>
                <a:spcPct val="90000"/>
              </a:lnSpc>
              <a:spcBef>
                <a:spcPct val="0"/>
              </a:spcBef>
              <a:buFont typeface="Wingdings 2" panose="05020102010507070707" pitchFamily="18" charset="2"/>
              <a:buChar char=""/>
            </a:pPr>
            <a:r>
              <a:rPr lang="es-CO" altLang="es-PE"/>
              <a:t>Se usan en denticion permanente</a:t>
            </a:r>
          </a:p>
          <a:p>
            <a:pPr marL="438150" indent="-319088" eaLnBrk="1" hangingPunct="1">
              <a:lnSpc>
                <a:spcPct val="9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s-CO" altLang="es-PE"/>
              <a:t>, Clase II /2, siendo necesario el alargamiento en ambas arcadas.</a:t>
            </a:r>
          </a:p>
          <a:p>
            <a:pPr marL="438150" indent="-319088" eaLnBrk="1" hangingPunct="1">
              <a:lnSpc>
                <a:spcPct val="9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s-CO" altLang="es-PE"/>
              <a:t>Algunas veces se usa placa palatina con o sin  tornillo de expansion </a:t>
            </a:r>
          </a:p>
          <a:p>
            <a:pPr marL="438150" indent="-319088" eaLnBrk="1" hangingPunct="1">
              <a:lnSpc>
                <a:spcPct val="9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endParaRPr lang="es-CO" altLang="es-PE"/>
          </a:p>
          <a:p>
            <a:pPr marL="438150" indent="-319088" eaLnBrk="1" hangingPunct="1">
              <a:lnSpc>
                <a:spcPct val="9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endParaRPr lang="es-CO" altLang="es-PE"/>
          </a:p>
          <a:p>
            <a:pPr marL="438150" indent="-319088" eaLnBrk="1" hangingPunct="1">
              <a:lnSpc>
                <a:spcPct val="90000"/>
              </a:lnSpc>
              <a:spcBef>
                <a:spcPct val="0"/>
              </a:spcBef>
              <a:buFont typeface="Wingdings 2" panose="05020102010507070707" pitchFamily="18" charset="2"/>
              <a:buChar char=""/>
            </a:pPr>
            <a:endParaRPr lang="es-CO" altLang="es-PE" sz="1800"/>
          </a:p>
          <a:p>
            <a:pPr marL="438150" indent="-319088" eaLnBrk="1" hangingPunct="1">
              <a:lnSpc>
                <a:spcPct val="90000"/>
              </a:lnSpc>
              <a:spcBef>
                <a:spcPct val="0"/>
              </a:spcBef>
              <a:buFont typeface="Wingdings 2" panose="05020102010507070707" pitchFamily="18" charset="2"/>
              <a:buChar char=""/>
            </a:pPr>
            <a:endParaRPr lang="es-ES" altLang="es-PE"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1 Título">
            <a:extLst>
              <a:ext uri="{FF2B5EF4-FFF2-40B4-BE49-F238E27FC236}">
                <a16:creationId xmlns:a16="http://schemas.microsoft.com/office/drawing/2014/main" id="{B066F1F7-7187-7034-E1F6-9B9581EDF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B-2 ESPECIAL </a:t>
            </a:r>
          </a:p>
        </p:txBody>
      </p:sp>
      <p:pic>
        <p:nvPicPr>
          <p:cNvPr id="49155" name="Picture 2" descr="C:\Users\Daniel\Pictures\2010-09-08 ADF-ORTOPEDIA\ADT-ORTOPEDIA 041.JPG">
            <a:extLst>
              <a:ext uri="{FF2B5EF4-FFF2-40B4-BE49-F238E27FC236}">
                <a16:creationId xmlns:a16="http://schemas.microsoft.com/office/drawing/2014/main" id="{B3BFCD58-0D56-246D-4412-414672BBB9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7" t="10715" r="2438" b="7143"/>
          <a:stretch>
            <a:fillRect/>
          </a:stretch>
        </p:blipFill>
        <p:spPr>
          <a:xfrm>
            <a:off x="527050" y="2286000"/>
            <a:ext cx="3330575" cy="3786188"/>
          </a:xfrm>
          <a:noFill/>
        </p:spPr>
      </p:pic>
      <p:pic>
        <p:nvPicPr>
          <p:cNvPr id="49156" name="Picture 3" descr="C:\Users\Daniel\Pictures\2010-09-08 ADF-ORTOPEDIA\ADT-ORTOPEDIA 042.JPG">
            <a:extLst>
              <a:ext uri="{FF2B5EF4-FFF2-40B4-BE49-F238E27FC236}">
                <a16:creationId xmlns:a16="http://schemas.microsoft.com/office/drawing/2014/main" id="{00F931D7-F677-C372-37B0-45590AB85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0" y="2500313"/>
            <a:ext cx="4916488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EE425BFD-3109-20B3-20A1-F30F3ED2D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71500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B-2 ESPECIAL </a:t>
            </a:r>
          </a:p>
        </p:txBody>
      </p:sp>
      <p:sp>
        <p:nvSpPr>
          <p:cNvPr id="50179" name="2 Marcador de contenido">
            <a:extLst>
              <a:ext uri="{FF2B5EF4-FFF2-40B4-BE49-F238E27FC236}">
                <a16:creationId xmlns:a16="http://schemas.microsoft.com/office/drawing/2014/main" id="{09300DBD-F609-C7DD-AFA4-03570F699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CO" altLang="es-PE"/>
              <a:t>Se usa con resortes interdentales para el movimiento de cada diente</a:t>
            </a:r>
          </a:p>
          <a:p>
            <a:pPr eaLnBrk="1" hangingPunct="1"/>
            <a:r>
              <a:rPr lang="es-CO" altLang="es-PE"/>
              <a:t>Se usa para expansion de arcos,en casos de centrales palatinizados.</a:t>
            </a:r>
          </a:p>
          <a:p>
            <a:pPr eaLnBrk="1" hangingPunct="1"/>
            <a:r>
              <a:rPr lang="es-CO" altLang="es-PE"/>
              <a:t>Por lo general los laterales estan protruidos </a:t>
            </a:r>
          </a:p>
          <a:p>
            <a:pPr eaLnBrk="1" hangingPunct="1"/>
            <a:endParaRPr lang="es-CO" altLang="es-PE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1 Título">
            <a:extLst>
              <a:ext uri="{FF2B5EF4-FFF2-40B4-BE49-F238E27FC236}">
                <a16:creationId xmlns:a16="http://schemas.microsoft.com/office/drawing/2014/main" id="{6570AF78-3522-18AA-FA42-990146E6D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B-3 HIPO</a:t>
            </a:r>
          </a:p>
        </p:txBody>
      </p:sp>
      <p:pic>
        <p:nvPicPr>
          <p:cNvPr id="51203" name="Picture 2" descr="C:\Users\Daniel\Pictures\2010-09-08 ADF-ORTOPEDIA\ADT-ORTOPEDIA 043.JPG">
            <a:extLst>
              <a:ext uri="{FF2B5EF4-FFF2-40B4-BE49-F238E27FC236}">
                <a16:creationId xmlns:a16="http://schemas.microsoft.com/office/drawing/2014/main" id="{4CBC147F-758D-55C1-E744-BBEBEAEC4A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1" t="5939" r="2325" b="4984"/>
          <a:stretch>
            <a:fillRect/>
          </a:stretch>
        </p:blipFill>
        <p:spPr>
          <a:xfrm>
            <a:off x="285750" y="2357438"/>
            <a:ext cx="3111500" cy="3500437"/>
          </a:xfrm>
          <a:noFill/>
        </p:spPr>
      </p:pic>
      <p:pic>
        <p:nvPicPr>
          <p:cNvPr id="51204" name="Picture 3" descr="C:\Users\Daniel\Pictures\2010-09-08 ADF-ORTOPEDIA\ADT-ORTOPEDIA 044.JPG">
            <a:extLst>
              <a:ext uri="{FF2B5EF4-FFF2-40B4-BE49-F238E27FC236}">
                <a16:creationId xmlns:a16="http://schemas.microsoft.com/office/drawing/2014/main" id="{C75E57A1-5DA5-110A-8511-A9594F7B1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286000"/>
            <a:ext cx="5427663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0E6E5286-1C49-1638-954B-8A37AD952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28625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B-3 HIPO</a:t>
            </a:r>
          </a:p>
        </p:txBody>
      </p:sp>
      <p:sp>
        <p:nvSpPr>
          <p:cNvPr id="52227" name="2 Marcador de contenido">
            <a:extLst>
              <a:ext uri="{FF2B5EF4-FFF2-40B4-BE49-F238E27FC236}">
                <a16:creationId xmlns:a16="http://schemas.microsoft.com/office/drawing/2014/main" id="{378CEC7D-3E5C-A21F-E161-14C61F99E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CO" altLang="es-PE"/>
              <a:t>Esta indicado cuando los 4 incisivos superiores tienen que ser protruidos o los laterales rotados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1 Título">
            <a:extLst>
              <a:ext uri="{FF2B5EF4-FFF2-40B4-BE49-F238E27FC236}">
                <a16:creationId xmlns:a16="http://schemas.microsoft.com/office/drawing/2014/main" id="{5A31E57A-502D-26C5-AF28-4B4E2E73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B-5 CONTRA </a:t>
            </a:r>
            <a:r>
              <a:rPr lang="es-CO" sz="2000" dirty="0">
                <a:solidFill>
                  <a:schemeClr val="accent1">
                    <a:satMod val="150000"/>
                  </a:schemeClr>
                </a:solidFill>
              </a:rPr>
              <a:t>APARATO DE CONTRACCION</a:t>
            </a:r>
          </a:p>
        </p:txBody>
      </p:sp>
      <p:pic>
        <p:nvPicPr>
          <p:cNvPr id="53251" name="Picture 2" descr="C:\Users\Daniel\Pictures\2010-09-08 ADF-ORTOPEDIA\ADT-ORTOPEDIA 045.JPG">
            <a:extLst>
              <a:ext uri="{FF2B5EF4-FFF2-40B4-BE49-F238E27FC236}">
                <a16:creationId xmlns:a16="http://schemas.microsoft.com/office/drawing/2014/main" id="{93DD3085-7667-D0E4-1565-481302AC1FA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4985" r="5000" b="7918"/>
          <a:stretch>
            <a:fillRect/>
          </a:stretch>
        </p:blipFill>
        <p:spPr>
          <a:xfrm>
            <a:off x="0" y="2357438"/>
            <a:ext cx="3409950" cy="3500437"/>
          </a:xfrm>
          <a:noFill/>
        </p:spPr>
      </p:pic>
      <p:pic>
        <p:nvPicPr>
          <p:cNvPr id="53252" name="Picture 3" descr="C:\Users\Daniel\Pictures\2010-09-08 ADF-ORTOPEDIA\ADT-ORTOPEDIA 046.JPG">
            <a:extLst>
              <a:ext uri="{FF2B5EF4-FFF2-40B4-BE49-F238E27FC236}">
                <a16:creationId xmlns:a16="http://schemas.microsoft.com/office/drawing/2014/main" id="{666C3581-7057-8E6E-721D-7AC3F67A4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2" r="3535" b="4094"/>
          <a:stretch>
            <a:fillRect/>
          </a:stretch>
        </p:blipFill>
        <p:spPr bwMode="auto">
          <a:xfrm>
            <a:off x="3571875" y="2571750"/>
            <a:ext cx="5357813" cy="334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FE341D4E-21DD-4E5E-4FB1-31D6EFFF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3200" dirty="0">
                <a:solidFill>
                  <a:schemeClr val="accent1">
                    <a:satMod val="150000"/>
                  </a:schemeClr>
                </a:solidFill>
              </a:rPr>
              <a:t>B-5 CONTRA APARATO DE CONTRACCION</a:t>
            </a:r>
          </a:p>
        </p:txBody>
      </p:sp>
      <p:sp>
        <p:nvSpPr>
          <p:cNvPr id="54275" name="2 Marcador de contenido">
            <a:extLst>
              <a:ext uri="{FF2B5EF4-FFF2-40B4-BE49-F238E27FC236}">
                <a16:creationId xmlns:a16="http://schemas.microsoft.com/office/drawing/2014/main" id="{86BF20BB-5D26-AB1C-1109-B5EEF6981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CO" altLang="es-PE"/>
              <a:t>Se usa en casos de mordida cruzada bucolingual o de non oclusion .</a:t>
            </a:r>
          </a:p>
          <a:p>
            <a:pPr eaLnBrk="1" hangingPunct="1"/>
            <a:r>
              <a:rPr lang="es-CO" altLang="es-PE"/>
              <a:t>Para expansion de arcos </a:t>
            </a:r>
          </a:p>
          <a:p>
            <a:pPr eaLnBrk="1" hangingPunct="1"/>
            <a:endParaRPr lang="es-CO" altLang="es-PE"/>
          </a:p>
          <a:p>
            <a:pPr eaLnBrk="1" hangingPunct="1"/>
            <a:endParaRPr lang="es-CO" altLang="es-PE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C6110728-3424-301C-0379-60D20D066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5334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>
                <a:solidFill>
                  <a:srgbClr val="FFFF00"/>
                </a:solidFill>
              </a:rPr>
              <a:t>BIMLER DE PROGENIE</a:t>
            </a:r>
            <a:endParaRPr lang="es-ES">
              <a:solidFill>
                <a:srgbClr val="FFFF00"/>
              </a:solidFill>
            </a:endParaRP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617E3E3D-D72E-346A-F2C6-F17462C42C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7188" y="2109788"/>
            <a:ext cx="53340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CO" altLang="es-PE" sz="2000"/>
              <a:t>EN MORDIDA CRUZADA ANTERIOR EN QUE  NO EXISTA APIÑAMIENTO SEVERO.</a:t>
            </a:r>
          </a:p>
          <a:p>
            <a:pPr eaLnBrk="1" hangingPunct="1">
              <a:lnSpc>
                <a:spcPct val="90000"/>
              </a:lnSpc>
            </a:pPr>
            <a:r>
              <a:rPr lang="es-CO" altLang="es-PE" sz="2000"/>
              <a:t>LOS RESORTES FRONTALES      INC. HACIA DELANTE.</a:t>
            </a:r>
          </a:p>
          <a:p>
            <a:pPr eaLnBrk="1" hangingPunct="1">
              <a:lnSpc>
                <a:spcPct val="90000"/>
              </a:lnSpc>
            </a:pPr>
            <a:r>
              <a:rPr lang="es-CO" altLang="es-PE" sz="2000"/>
              <a:t>EL ARCO BIMAXILAR DIRIGE LA CONTRAFUERZA HACIA ATRÁS SOBRE LOS INCISIVOS INFERIORES Y POSICIONA LA MAND LO MAS RETRUIDA POSIBLE.</a:t>
            </a:r>
          </a:p>
          <a:p>
            <a:pPr eaLnBrk="1" hangingPunct="1">
              <a:lnSpc>
                <a:spcPct val="90000"/>
              </a:lnSpc>
            </a:pPr>
            <a:r>
              <a:rPr lang="es-CO" altLang="es-PE" sz="2000"/>
              <a:t>EL ARCO DEL MAX INF LIBERA LAS SUPERFICIES LABIALES  DE LOS INC INFERIORES PARA EL ARCO LAB SUP..</a:t>
            </a:r>
          </a:p>
          <a:p>
            <a:pPr eaLnBrk="1" hangingPunct="1">
              <a:lnSpc>
                <a:spcPct val="90000"/>
              </a:lnSpc>
            </a:pPr>
            <a:r>
              <a:rPr lang="es-CO" altLang="es-PE" sz="2000"/>
              <a:t>LOS RESORTES INTERDENTALES LOGRAN UNA MORDIDA ABIERTA NECESARIA PARA EL DESCRUCE .</a:t>
            </a:r>
            <a:endParaRPr lang="es-ES" altLang="es-PE" sz="2000"/>
          </a:p>
        </p:txBody>
      </p:sp>
      <p:sp>
        <p:nvSpPr>
          <p:cNvPr id="55300" name="Line 5">
            <a:extLst>
              <a:ext uri="{FF2B5EF4-FFF2-40B4-BE49-F238E27FC236}">
                <a16:creationId xmlns:a16="http://schemas.microsoft.com/office/drawing/2014/main" id="{37897F58-53C2-201E-2A93-59C1039A5C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438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PE"/>
          </a:p>
        </p:txBody>
      </p:sp>
      <p:pic>
        <p:nvPicPr>
          <p:cNvPr id="55301" name="Picture 6" descr="C:\Mis documentos\Postgrado Oscar\Bimler\Modo de accion C.jpg">
            <a:extLst>
              <a:ext uri="{FF2B5EF4-FFF2-40B4-BE49-F238E27FC236}">
                <a16:creationId xmlns:a16="http://schemas.microsoft.com/office/drawing/2014/main" id="{9BBC6485-4A8A-D4A3-AE3C-1BE2C5E93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438400"/>
            <a:ext cx="2755900" cy="2454275"/>
          </a:xfrm>
          <a:prstGeom prst="rect">
            <a:avLst/>
          </a:prstGeom>
          <a:noFill/>
          <a:ln w="38100" cmpd="dbl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>
            <a:extLst>
              <a:ext uri="{FF2B5EF4-FFF2-40B4-BE49-F238E27FC236}">
                <a16:creationId xmlns:a16="http://schemas.microsoft.com/office/drawing/2014/main" id="{AF7E0E98-7453-C6F2-69CF-2BC5B7D109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285875"/>
            <a:ext cx="5072063" cy="4443413"/>
          </a:xfrm>
          <a:noFill/>
        </p:spPr>
      </p:pic>
      <p:pic>
        <p:nvPicPr>
          <p:cNvPr id="56323" name="Picture 2">
            <a:extLst>
              <a:ext uri="{FF2B5EF4-FFF2-40B4-BE49-F238E27FC236}">
                <a16:creationId xmlns:a16="http://schemas.microsoft.com/office/drawing/2014/main" id="{DC195AB3-6861-2E71-6ABF-A2A2E7DC8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688" y="785813"/>
            <a:ext cx="3214687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4" name="Picture 3">
            <a:extLst>
              <a:ext uri="{FF2B5EF4-FFF2-40B4-BE49-F238E27FC236}">
                <a16:creationId xmlns:a16="http://schemas.microsoft.com/office/drawing/2014/main" id="{31E5ADD3-8D1D-6A79-A86A-6968640B4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3" y="3500438"/>
            <a:ext cx="3286125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1 Título">
            <a:extLst>
              <a:ext uri="{FF2B5EF4-FFF2-40B4-BE49-F238E27FC236}">
                <a16:creationId xmlns:a16="http://schemas.microsoft.com/office/drawing/2014/main" id="{7D748052-B9BE-4ED0-9B35-A77DB1755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2000">
                <a:solidFill>
                  <a:schemeClr val="accent1">
                    <a:satMod val="150000"/>
                  </a:schemeClr>
                </a:solidFill>
              </a:rPr>
              <a:t>C APARATOS PARA LA MORDIDA CRUZADA FRONTAL</a:t>
            </a:r>
          </a:p>
        </p:txBody>
      </p:sp>
      <p:pic>
        <p:nvPicPr>
          <p:cNvPr id="57347" name="Picture 2" descr="C:\Users\Daniel\Pictures\2010-09-08 ADF-ORTOPEDIA\ADT-ORTOPEDIA 047.JPG">
            <a:extLst>
              <a:ext uri="{FF2B5EF4-FFF2-40B4-BE49-F238E27FC236}">
                <a16:creationId xmlns:a16="http://schemas.microsoft.com/office/drawing/2014/main" id="{3562C934-144A-EE9A-4920-EF6EEC661B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43063" y="2076450"/>
            <a:ext cx="5429250" cy="4259263"/>
          </a:xfr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1 Título">
            <a:extLst>
              <a:ext uri="{FF2B5EF4-FFF2-40B4-BE49-F238E27FC236}">
                <a16:creationId xmlns:a16="http://schemas.microsoft.com/office/drawing/2014/main" id="{4389CCFD-F73D-D974-F5B6-8E6488C74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2800" dirty="0">
                <a:solidFill>
                  <a:schemeClr val="accent1">
                    <a:satMod val="150000"/>
                  </a:schemeClr>
                </a:solidFill>
              </a:rPr>
              <a:t>MODO DE ACCION DE LOS APARATOS C</a:t>
            </a:r>
          </a:p>
        </p:txBody>
      </p:sp>
      <p:pic>
        <p:nvPicPr>
          <p:cNvPr id="58371" name="Picture 2" descr="C:\Users\Daniel\Pictures\2010-09-08 ADF-ORTOPEDIA\ADT-ORTOPEDIA 048.JPG">
            <a:extLst>
              <a:ext uri="{FF2B5EF4-FFF2-40B4-BE49-F238E27FC236}">
                <a16:creationId xmlns:a16="http://schemas.microsoft.com/office/drawing/2014/main" id="{98AA9C77-DC12-2E4E-0B14-72F68C8F47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43188" y="1876425"/>
            <a:ext cx="4546600" cy="4195763"/>
          </a:xfr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788F733A-8688-7625-8417-8221FB56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3200" dirty="0">
                <a:solidFill>
                  <a:schemeClr val="accent1">
                    <a:satMod val="150000"/>
                  </a:schemeClr>
                </a:solidFill>
              </a:rPr>
              <a:t>MODO DE ACCION DE LOS APARATOS C</a:t>
            </a:r>
          </a:p>
        </p:txBody>
      </p:sp>
      <p:sp>
        <p:nvSpPr>
          <p:cNvPr id="59395" name="2 Marcador de contenido">
            <a:extLst>
              <a:ext uri="{FF2B5EF4-FFF2-40B4-BE49-F238E27FC236}">
                <a16:creationId xmlns:a16="http://schemas.microsoft.com/office/drawing/2014/main" id="{72120179-6606-BEC1-DE0D-BD93A1860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CO" altLang="es-PE"/>
              <a:t>La accion del aparato de progenie es la separacion de las fuerzas verticales.</a:t>
            </a:r>
          </a:p>
          <a:p>
            <a:pPr eaLnBrk="1" hangingPunct="1"/>
            <a:r>
              <a:rPr lang="es-CO" altLang="es-PE"/>
              <a:t>El uso cojines de gomas produce bloqueo en la accion sobre masetero  y temporal 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1 Título">
            <a:extLst>
              <a:ext uri="{FF2B5EF4-FFF2-40B4-BE49-F238E27FC236}">
                <a16:creationId xmlns:a16="http://schemas.microsoft.com/office/drawing/2014/main" id="{EBDD0332-6381-5631-31A1-20B7BFDEA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6213"/>
            <a:ext cx="8229600" cy="1252537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C-1 APARATO ESTANDAR</a:t>
            </a:r>
          </a:p>
        </p:txBody>
      </p:sp>
      <p:pic>
        <p:nvPicPr>
          <p:cNvPr id="60419" name="Picture 2" descr="C:\Users\Daniel\Pictures\2010-09-08 ADF-ORTOPEDIA\ADT-ORTOPEDIA 049.JPG">
            <a:extLst>
              <a:ext uri="{FF2B5EF4-FFF2-40B4-BE49-F238E27FC236}">
                <a16:creationId xmlns:a16="http://schemas.microsoft.com/office/drawing/2014/main" id="{3F1BB852-F346-9882-5A8C-C408ECB9D2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0" t="8064" r="12589" b="8064"/>
          <a:stretch>
            <a:fillRect/>
          </a:stretch>
        </p:blipFill>
        <p:spPr>
          <a:xfrm>
            <a:off x="357188" y="2071688"/>
            <a:ext cx="3214687" cy="3714750"/>
          </a:xfrm>
          <a:noFill/>
        </p:spPr>
      </p:pic>
      <p:pic>
        <p:nvPicPr>
          <p:cNvPr id="60420" name="Picture 3" descr="C:\Users\Daniel\Pictures\2010-09-08 ADF-ORTOPEDIA\ADT-ORTOPEDIA 050.JPG">
            <a:extLst>
              <a:ext uri="{FF2B5EF4-FFF2-40B4-BE49-F238E27FC236}">
                <a16:creationId xmlns:a16="http://schemas.microsoft.com/office/drawing/2014/main" id="{0D07AB55-892C-1E5B-0588-4CFACCDA9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1" b="4179"/>
          <a:stretch>
            <a:fillRect/>
          </a:stretch>
        </p:blipFill>
        <p:spPr bwMode="auto">
          <a:xfrm>
            <a:off x="3714750" y="2571750"/>
            <a:ext cx="5086350" cy="327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9916E64C-41F2-7F60-BC6D-F0FBEA866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C-1 APARATO ESTANDAR</a:t>
            </a:r>
          </a:p>
        </p:txBody>
      </p:sp>
      <p:sp>
        <p:nvSpPr>
          <p:cNvPr id="61443" name="2 Marcador de contenido">
            <a:extLst>
              <a:ext uri="{FF2B5EF4-FFF2-40B4-BE49-F238E27FC236}">
                <a16:creationId xmlns:a16="http://schemas.microsoft.com/office/drawing/2014/main" id="{1D0AB04E-EA69-3701-AE51-CA9B79FF1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CO" altLang="es-PE"/>
              <a:t>Se recomienda en denticion temporal,mixta y permanente</a:t>
            </a:r>
          </a:p>
          <a:p>
            <a:pPr eaLnBrk="1" hangingPunct="1"/>
            <a:r>
              <a:rPr lang="es-CO" altLang="es-PE"/>
              <a:t>En casos de cruzada anterior,sin apiñamiento</a:t>
            </a:r>
          </a:p>
          <a:p>
            <a:pPr eaLnBrk="1" hangingPunct="1"/>
            <a:endParaRPr lang="es-CO" altLang="es-PE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1 Título">
            <a:extLst>
              <a:ext uri="{FF2B5EF4-FFF2-40B4-BE49-F238E27FC236}">
                <a16:creationId xmlns:a16="http://schemas.microsoft.com/office/drawing/2014/main" id="{B8FF0E7A-2D08-4825-2E24-2F4827FF4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C-2 ESPECIAL</a:t>
            </a:r>
          </a:p>
        </p:txBody>
      </p:sp>
      <p:pic>
        <p:nvPicPr>
          <p:cNvPr id="62467" name="Picture 2" descr="C:\Users\Daniel\Pictures\2010-09-08 ADF-ORTOPEDIA\ADT-ORTOPEDIA 051.JPG">
            <a:extLst>
              <a:ext uri="{FF2B5EF4-FFF2-40B4-BE49-F238E27FC236}">
                <a16:creationId xmlns:a16="http://schemas.microsoft.com/office/drawing/2014/main" id="{ECBB2672-7CC2-CFF9-58FB-BAC485505F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071688"/>
            <a:ext cx="3714750" cy="4143375"/>
          </a:xfrm>
          <a:noFill/>
        </p:spPr>
      </p:pic>
      <p:pic>
        <p:nvPicPr>
          <p:cNvPr id="62468" name="Picture 3" descr="C:\Users\Daniel\Pictures\2010-09-08 ADF-ORTOPEDIA\ADT-ORTOPEDIA 052.JPG">
            <a:extLst>
              <a:ext uri="{FF2B5EF4-FFF2-40B4-BE49-F238E27FC236}">
                <a16:creationId xmlns:a16="http://schemas.microsoft.com/office/drawing/2014/main" id="{66EA54F3-274B-A9E2-C4F3-46FF251EA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"/>
          <a:stretch>
            <a:fillRect/>
          </a:stretch>
        </p:blipFill>
        <p:spPr bwMode="auto">
          <a:xfrm>
            <a:off x="3929063" y="2500313"/>
            <a:ext cx="4929187" cy="346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68372279-1353-E1DA-6D73-6425A620E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00063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C-2 ESPECIAL</a:t>
            </a:r>
          </a:p>
        </p:txBody>
      </p:sp>
      <p:sp>
        <p:nvSpPr>
          <p:cNvPr id="63491" name="2 Marcador de contenido">
            <a:extLst>
              <a:ext uri="{FF2B5EF4-FFF2-40B4-BE49-F238E27FC236}">
                <a16:creationId xmlns:a16="http://schemas.microsoft.com/office/drawing/2014/main" id="{8169D324-DE2A-1CEA-F641-8A4F129A9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CO" altLang="es-PE"/>
              <a:t>En este modelador elastico los resortes interdentales realizan movimientos dentales y corrigen la mordida cruzada anterior</a:t>
            </a:r>
          </a:p>
          <a:p>
            <a:pPr eaLnBrk="1" hangingPunct="1"/>
            <a:endParaRPr lang="es-CO" altLang="es-PE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1 Título">
            <a:extLst>
              <a:ext uri="{FF2B5EF4-FFF2-40B4-BE49-F238E27FC236}">
                <a16:creationId xmlns:a16="http://schemas.microsoft.com/office/drawing/2014/main" id="{B91FF7FC-289A-EED5-2BE7-B621F0F31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C-3 APARATO HIPO</a:t>
            </a:r>
          </a:p>
        </p:txBody>
      </p:sp>
      <p:pic>
        <p:nvPicPr>
          <p:cNvPr id="64515" name="Picture 2" descr="C:\Users\Daniel\Pictures\2010-09-08 ADF-ORTOPEDIA\ADT-ORTOPEDIA 053.JPG">
            <a:extLst>
              <a:ext uri="{FF2B5EF4-FFF2-40B4-BE49-F238E27FC236}">
                <a16:creationId xmlns:a16="http://schemas.microsoft.com/office/drawing/2014/main" id="{45F55883-F5DA-45CD-32D4-87861B9D26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750" y="2571750"/>
            <a:ext cx="2828925" cy="3571875"/>
          </a:xfrm>
          <a:noFill/>
        </p:spPr>
      </p:pic>
      <p:pic>
        <p:nvPicPr>
          <p:cNvPr id="64516" name="Picture 3" descr="C:\Users\Daniel\Pictures\2010-09-08 ADF-ORTOPEDIA\ADT-ORTOPEDIA 054.JPG">
            <a:extLst>
              <a:ext uri="{FF2B5EF4-FFF2-40B4-BE49-F238E27FC236}">
                <a16:creationId xmlns:a16="http://schemas.microsoft.com/office/drawing/2014/main" id="{A2857886-933D-7260-F063-E6B6CCA22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175" y="2552700"/>
            <a:ext cx="5486400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F45FD9C2-7FCE-5C25-F4DF-F7028B1EF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C-3 APARATO HIPO</a:t>
            </a:r>
          </a:p>
        </p:txBody>
      </p:sp>
      <p:sp>
        <p:nvSpPr>
          <p:cNvPr id="65539" name="2 Marcador de contenido">
            <a:extLst>
              <a:ext uri="{FF2B5EF4-FFF2-40B4-BE49-F238E27FC236}">
                <a16:creationId xmlns:a16="http://schemas.microsoft.com/office/drawing/2014/main" id="{5E9704D3-7769-69DE-E646-F7F31B112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CO" altLang="es-PE"/>
              <a:t>Se usa en casos de maxilar  superior hipoplasico ,siendo eficaz en mordidas cruzadas circulares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1 Título">
            <a:extLst>
              <a:ext uri="{FF2B5EF4-FFF2-40B4-BE49-F238E27FC236}">
                <a16:creationId xmlns:a16="http://schemas.microsoft.com/office/drawing/2014/main" id="{AEF3FB4C-5CC4-BC90-101E-A8013F012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2000" dirty="0">
                <a:solidFill>
                  <a:schemeClr val="accent1">
                    <a:satMod val="150000"/>
                  </a:schemeClr>
                </a:solidFill>
              </a:rPr>
              <a:t>C-4 ENTRA PARA CASOS DE EXTRACCION DE LA CLASEIII</a:t>
            </a:r>
          </a:p>
        </p:txBody>
      </p:sp>
      <p:pic>
        <p:nvPicPr>
          <p:cNvPr id="66563" name="Picture 2" descr="C:\Users\Daniel\Pictures\2010-09-08 ADF-ORTOPEDIA\ADT-ORTOPEDIA 055.JPG">
            <a:extLst>
              <a:ext uri="{FF2B5EF4-FFF2-40B4-BE49-F238E27FC236}">
                <a16:creationId xmlns:a16="http://schemas.microsoft.com/office/drawing/2014/main" id="{925DC79A-7E0C-019A-B21F-D91DACD98A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6" b="4256"/>
          <a:stretch>
            <a:fillRect/>
          </a:stretch>
        </p:blipFill>
        <p:spPr>
          <a:xfrm>
            <a:off x="220663" y="2500313"/>
            <a:ext cx="2825750" cy="3571875"/>
          </a:xfrm>
          <a:noFill/>
        </p:spPr>
      </p:pic>
      <p:pic>
        <p:nvPicPr>
          <p:cNvPr id="66564" name="Picture 3" descr="C:\Users\Daniel\Pictures\2010-09-08 ADF-ORTOPEDIA\ADT-ORTOPEDIA 056.JPG">
            <a:extLst>
              <a:ext uri="{FF2B5EF4-FFF2-40B4-BE49-F238E27FC236}">
                <a16:creationId xmlns:a16="http://schemas.microsoft.com/office/drawing/2014/main" id="{6860D59F-AF03-16BD-FDA6-19DC6C9CB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538" y="2438400"/>
            <a:ext cx="5414962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0F8A0F51-502C-AB83-212C-31DF6040F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2400" dirty="0">
                <a:solidFill>
                  <a:schemeClr val="accent1">
                    <a:satMod val="150000"/>
                  </a:schemeClr>
                </a:solidFill>
              </a:rPr>
              <a:t>C-4 ENTRA PARA CASOS DE EXTRACCION DE LA CLASEIII</a:t>
            </a:r>
          </a:p>
        </p:txBody>
      </p:sp>
      <p:sp>
        <p:nvSpPr>
          <p:cNvPr id="67587" name="2 Marcador de contenido">
            <a:extLst>
              <a:ext uri="{FF2B5EF4-FFF2-40B4-BE49-F238E27FC236}">
                <a16:creationId xmlns:a16="http://schemas.microsoft.com/office/drawing/2014/main" id="{93091177-B30A-FF6D-F502-4162FE187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CO" altLang="es-PE"/>
              <a:t>En casos de mordida cruzada anterior ,y despues de un examen cefalometrico se consideran las exodoncias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1 Título">
            <a:extLst>
              <a:ext uri="{FF2B5EF4-FFF2-40B4-BE49-F238E27FC236}">
                <a16:creationId xmlns:a16="http://schemas.microsoft.com/office/drawing/2014/main" id="{6350092B-CB01-E7BF-D2B2-7C8865587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2800" dirty="0">
                <a:solidFill>
                  <a:schemeClr val="accent1">
                    <a:satMod val="150000"/>
                  </a:schemeClr>
                </a:solidFill>
              </a:rPr>
              <a:t>C-5 CONTRA PARA CASOS DE CONTRACCION </a:t>
            </a:r>
          </a:p>
        </p:txBody>
      </p:sp>
      <p:pic>
        <p:nvPicPr>
          <p:cNvPr id="68611" name="Picture 2" descr="C:\Users\Daniel\Pictures\2010-09-08 ADF-ORTOPEDIA\ADT-ORTOPEDIA 057.JPG">
            <a:extLst>
              <a:ext uri="{FF2B5EF4-FFF2-40B4-BE49-F238E27FC236}">
                <a16:creationId xmlns:a16="http://schemas.microsoft.com/office/drawing/2014/main" id="{93970751-1672-E5E0-214C-3E79FCF28A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7175" y="2071688"/>
            <a:ext cx="2886075" cy="4357687"/>
          </a:xfrm>
          <a:noFill/>
        </p:spPr>
      </p:pic>
      <p:pic>
        <p:nvPicPr>
          <p:cNvPr id="68612" name="Picture 3" descr="C:\Users\Daniel\Pictures\2010-09-08 ADF-ORTOPEDIA\ADT-ORTOPEDIA 058.JPG">
            <a:extLst>
              <a:ext uri="{FF2B5EF4-FFF2-40B4-BE49-F238E27FC236}">
                <a16:creationId xmlns:a16="http://schemas.microsoft.com/office/drawing/2014/main" id="{4829BEA6-9251-32B3-AA34-87D68348B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775" y="2286000"/>
            <a:ext cx="5562600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ED3086A1-8A7A-8944-B7D7-1D45A2097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3200" dirty="0">
                <a:solidFill>
                  <a:schemeClr val="accent1">
                    <a:satMod val="150000"/>
                  </a:schemeClr>
                </a:solidFill>
              </a:rPr>
              <a:t>C-5 CONTRA PARA CASOS DE CONTRACCION </a:t>
            </a:r>
          </a:p>
        </p:txBody>
      </p:sp>
      <p:sp>
        <p:nvSpPr>
          <p:cNvPr id="69635" name="2 Marcador de contenido">
            <a:extLst>
              <a:ext uri="{FF2B5EF4-FFF2-40B4-BE49-F238E27FC236}">
                <a16:creationId xmlns:a16="http://schemas.microsoft.com/office/drawing/2014/main" id="{5617636A-25F3-5886-E5AC-B162B6FFB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CO" altLang="es-PE"/>
              <a:t>Se usa en casos de mordida cruzada anterior  con mordida cruzada lateral inversa.</a:t>
            </a:r>
          </a:p>
          <a:p>
            <a:pPr eaLnBrk="1" hangingPunct="1"/>
            <a:r>
              <a:rPr lang="es-CO" altLang="es-PE"/>
              <a:t>Corrige los incisivos anteriores y se encarga de la contraccion de los premolares superiores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1 Título">
            <a:extLst>
              <a:ext uri="{FF2B5EF4-FFF2-40B4-BE49-F238E27FC236}">
                <a16:creationId xmlns:a16="http://schemas.microsoft.com/office/drawing/2014/main" id="{A5082C9A-FC21-CF26-A985-627770ED1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C-0 MONO</a:t>
            </a:r>
            <a:r>
              <a:rPr lang="es-CO" sz="2400" dirty="0">
                <a:solidFill>
                  <a:schemeClr val="accent1">
                    <a:satMod val="150000"/>
                  </a:schemeClr>
                </a:solidFill>
              </a:rPr>
              <a:t> PARA MORDIDAS CRUZADAS FRONTALES CORREGIDAS</a:t>
            </a:r>
          </a:p>
        </p:txBody>
      </p:sp>
      <p:pic>
        <p:nvPicPr>
          <p:cNvPr id="70659" name="Picture 2" descr="C:\Users\Daniel\Pictures\2010-09-08 ADF-ORTOPEDIA\ADT-ORTOPEDIA 059.JPG">
            <a:extLst>
              <a:ext uri="{FF2B5EF4-FFF2-40B4-BE49-F238E27FC236}">
                <a16:creationId xmlns:a16="http://schemas.microsoft.com/office/drawing/2014/main" id="{FB0924E0-7585-757A-46BD-CF0656D30A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4" t="10870" r="22102" b="15218"/>
          <a:stretch>
            <a:fillRect/>
          </a:stretch>
        </p:blipFill>
        <p:spPr>
          <a:xfrm>
            <a:off x="357188" y="2428875"/>
            <a:ext cx="2928937" cy="3319463"/>
          </a:xfrm>
          <a:noFill/>
        </p:spPr>
      </p:pic>
      <p:pic>
        <p:nvPicPr>
          <p:cNvPr id="70660" name="Picture 3" descr="C:\Users\Daniel\Pictures\2010-09-08 ADF-ORTOPEDIA\ADT-ORTOPEDIA 060.JPG">
            <a:extLst>
              <a:ext uri="{FF2B5EF4-FFF2-40B4-BE49-F238E27FC236}">
                <a16:creationId xmlns:a16="http://schemas.microsoft.com/office/drawing/2014/main" id="{6AFC511F-972C-76A3-BD3F-8B3CCF44D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2428875"/>
            <a:ext cx="5694363" cy="330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7036E035-552F-831F-359F-BC239FBA1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2000" dirty="0">
                <a:solidFill>
                  <a:schemeClr val="accent1">
                    <a:satMod val="150000"/>
                  </a:schemeClr>
                </a:solidFill>
              </a:rPr>
              <a:t>C-0 MONO PARA MORDIDAS CRUZADAS FRONTALES CORREGIDAS</a:t>
            </a:r>
          </a:p>
        </p:txBody>
      </p:sp>
      <p:sp>
        <p:nvSpPr>
          <p:cNvPr id="71683" name="2 Marcador de contenido">
            <a:extLst>
              <a:ext uri="{FF2B5EF4-FFF2-40B4-BE49-F238E27FC236}">
                <a16:creationId xmlns:a16="http://schemas.microsoft.com/office/drawing/2014/main" id="{59A553EF-8E38-617D-39EA-D354DBD75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CO" altLang="es-PE"/>
              <a:t>Se usa en pacientes adultos para correccion de mordidas cruzadas anteriores que han sido corregidas.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1 Título">
            <a:extLst>
              <a:ext uri="{FF2B5EF4-FFF2-40B4-BE49-F238E27FC236}">
                <a16:creationId xmlns:a16="http://schemas.microsoft.com/office/drawing/2014/main" id="{5D6B12B8-9DDD-32C1-9EAA-6C77AD3AE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ARCOS D </a:t>
            </a:r>
            <a:r>
              <a:rPr lang="es-CO" sz="2000" dirty="0">
                <a:solidFill>
                  <a:schemeClr val="accent1">
                    <a:satMod val="150000"/>
                  </a:schemeClr>
                </a:solidFill>
              </a:rPr>
              <a:t>PARA PROTUSIONES PRONUNCIADAS</a:t>
            </a:r>
          </a:p>
        </p:txBody>
      </p:sp>
      <p:pic>
        <p:nvPicPr>
          <p:cNvPr id="72707" name="Picture 2" descr="C:\Users\Daniel\Pictures\2010-09-08 ADF-ORTOPEDIA\ADT-ORTOPEDIA 060.JPG">
            <a:extLst>
              <a:ext uri="{FF2B5EF4-FFF2-40B4-BE49-F238E27FC236}">
                <a16:creationId xmlns:a16="http://schemas.microsoft.com/office/drawing/2014/main" id="{504B2D13-3F46-3878-F7C8-B846904538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2225" y="2132013"/>
            <a:ext cx="6423025" cy="3725862"/>
          </a:xfrm>
          <a:noFill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2A4D20C2-C9FF-8541-F452-3EF8994AC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sz="2800" dirty="0">
                <a:solidFill>
                  <a:schemeClr val="accent1">
                    <a:satMod val="150000"/>
                  </a:schemeClr>
                </a:solidFill>
              </a:rPr>
              <a:t>ARCOS D PARA PROTUSIONES PRONUNCIADAS</a:t>
            </a:r>
          </a:p>
        </p:txBody>
      </p:sp>
      <p:sp>
        <p:nvSpPr>
          <p:cNvPr id="73731" name="2 Marcador de contenido">
            <a:extLst>
              <a:ext uri="{FF2B5EF4-FFF2-40B4-BE49-F238E27FC236}">
                <a16:creationId xmlns:a16="http://schemas.microsoft.com/office/drawing/2014/main" id="{1AA23AE1-4F1F-005D-6183-9B79C4C40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CO" altLang="es-PE"/>
              <a:t>En pacientes con vestibulo version pronunciada ,se realiza un arco de retrusion especial.</a:t>
            </a:r>
          </a:p>
          <a:p>
            <a:pPr eaLnBrk="1" hangingPunct="1"/>
            <a:endParaRPr lang="es-CO" altLang="es-PE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1 Título">
            <a:extLst>
              <a:ext uri="{FF2B5EF4-FFF2-40B4-BE49-F238E27FC236}">
                <a16:creationId xmlns:a16="http://schemas.microsoft.com/office/drawing/2014/main" id="{18D15539-D118-8F7A-79A6-80AC797CB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DA   APARATO </a:t>
            </a:r>
            <a:r>
              <a:rPr lang="es-CO" sz="2400" dirty="0">
                <a:solidFill>
                  <a:schemeClr val="accent1">
                    <a:satMod val="150000"/>
                  </a:schemeClr>
                </a:solidFill>
              </a:rPr>
              <a:t>DE BIPROTUSION</a:t>
            </a:r>
          </a:p>
        </p:txBody>
      </p:sp>
      <p:pic>
        <p:nvPicPr>
          <p:cNvPr id="74755" name="Picture 2" descr="C:\Users\Daniel\Pictures\2010-09-08 ADF-ORTOPEDIA\ADT-ORTOPEDIA 062.JPG">
            <a:extLst>
              <a:ext uri="{FF2B5EF4-FFF2-40B4-BE49-F238E27FC236}">
                <a16:creationId xmlns:a16="http://schemas.microsoft.com/office/drawing/2014/main" id="{B7D08CCD-23D1-9F0A-35AB-FAE1AE71FF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188" y="2214563"/>
            <a:ext cx="2714625" cy="4214812"/>
          </a:xfrm>
          <a:noFill/>
        </p:spPr>
      </p:pic>
      <p:pic>
        <p:nvPicPr>
          <p:cNvPr id="74756" name="Picture 3" descr="C:\Users\Daniel\Pictures\2010-09-08 ADF-ORTOPEDIA\ADT-ORTOPEDIA 063.JPG">
            <a:extLst>
              <a:ext uri="{FF2B5EF4-FFF2-40B4-BE49-F238E27FC236}">
                <a16:creationId xmlns:a16="http://schemas.microsoft.com/office/drawing/2014/main" id="{87441990-6A6B-1203-5535-33F51B79A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25" y="2357438"/>
            <a:ext cx="5429250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ABB275B0-8505-2952-ADE7-CA822F33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DA   APARATO </a:t>
            </a:r>
            <a:r>
              <a:rPr lang="es-CO" sz="4800" dirty="0">
                <a:solidFill>
                  <a:schemeClr val="accent1">
                    <a:satMod val="150000"/>
                  </a:schemeClr>
                </a:solidFill>
              </a:rPr>
              <a:t>DE BIPROTUSION</a:t>
            </a:r>
            <a:endParaRPr lang="es-CO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75779" name="2 Marcador de contenido">
            <a:extLst>
              <a:ext uri="{FF2B5EF4-FFF2-40B4-BE49-F238E27FC236}">
                <a16:creationId xmlns:a16="http://schemas.microsoft.com/office/drawing/2014/main" id="{BD21683E-A72C-C575-4310-2F15AFBD1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CO" altLang="es-PE"/>
              <a:t>Genera estabilidad en los dientes que se encuentran fuertemente inclinados, para esa estabilidad se combina con una placa palatina con o sin tornillo de expansion.</a:t>
            </a:r>
          </a:p>
          <a:p>
            <a:pPr eaLnBrk="1" hangingPunct="1"/>
            <a:endParaRPr lang="es-CO" altLang="es-PE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1 Título">
            <a:extLst>
              <a:ext uri="{FF2B5EF4-FFF2-40B4-BE49-F238E27FC236}">
                <a16:creationId xmlns:a16="http://schemas.microsoft.com/office/drawing/2014/main" id="{639655DB-23E7-05BA-7756-536CCC1ED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solidFill>
                  <a:schemeClr val="accent1">
                    <a:satMod val="150000"/>
                  </a:schemeClr>
                </a:solidFill>
              </a:rPr>
              <a:t>EQUIPLAN</a:t>
            </a:r>
          </a:p>
        </p:txBody>
      </p:sp>
      <p:pic>
        <p:nvPicPr>
          <p:cNvPr id="76803" name="Picture 2" descr="C:\Users\Daniel\Pictures\2010-09-08 ADF-ORTOPEDIA\ADT-ORTOPEDIA 064.JPG">
            <a:extLst>
              <a:ext uri="{FF2B5EF4-FFF2-40B4-BE49-F238E27FC236}">
                <a16:creationId xmlns:a16="http://schemas.microsoft.com/office/drawing/2014/main" id="{8C780636-4F73-7E2E-7A5C-E82888B65E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1688" y="1857375"/>
            <a:ext cx="5143500" cy="3638550"/>
          </a:xfrm>
          <a:noFill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6" descr="F:\DCIM\101MSDCF\DSC03835.JPG">
            <a:extLst>
              <a:ext uri="{FF2B5EF4-FFF2-40B4-BE49-F238E27FC236}">
                <a16:creationId xmlns:a16="http://schemas.microsoft.com/office/drawing/2014/main" id="{82BF6D66-9DBC-FBD8-3A71-1476E9C815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28"/>
          <a:stretch>
            <a:fillRect/>
          </a:stretch>
        </p:blipFill>
        <p:spPr>
          <a:xfrm>
            <a:off x="428625" y="785813"/>
            <a:ext cx="8424863" cy="5553075"/>
          </a:xfrm>
          <a:noFill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6F0FF9F0-7DDE-2D29-A1B2-2E48BDF8C2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5813" y="285750"/>
            <a:ext cx="7772400" cy="1143000"/>
          </a:xfrm>
        </p:spPr>
        <p:txBody>
          <a:bodyPr/>
          <a:lstStyle/>
          <a:p>
            <a:pPr eaLnBrk="1" hangingPunct="1"/>
            <a:r>
              <a:rPr lang="es-CO" altLang="es-PE" sz="3600" b="1">
                <a:solidFill>
                  <a:srgbClr val="FFFF00"/>
                </a:solidFill>
              </a:rPr>
              <a:t>MANEJO E INDICACIONES</a:t>
            </a:r>
            <a:endParaRPr lang="es-ES" altLang="es-PE" sz="3600" b="1">
              <a:solidFill>
                <a:srgbClr val="FFFF00"/>
              </a:solidFill>
            </a:endParaRP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8103EC74-2378-19E7-367C-5EBB5BC986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57375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s-ES" altLang="es-PE">
                <a:latin typeface="Symbol" panose="05050102010706020507" pitchFamily="18" charset="2"/>
                <a:cs typeface="Arial" panose="020B0604020202020204" pitchFamily="34" charset="0"/>
              </a:rPr>
              <a:t>·</a:t>
            </a:r>
            <a:r>
              <a:rPr lang="es-ES" altLang="es-PE" sz="2800">
                <a:latin typeface="Arial" panose="020B0604020202020204" pitchFamily="34" charset="0"/>
                <a:cs typeface="Arial" panose="020B0604020202020204" pitchFamily="34" charset="0"/>
              </a:rPr>
              <a:t>Se debe mostrar al paciente el aparato colocado sobre los modelos para que se oriente y sepa colocarlo en boca.</a:t>
            </a:r>
            <a:endParaRPr lang="es-ES" altLang="es-PE" sz="2800">
              <a:latin typeface="Arial Unicode MS" pitchFamily="34" charset="-128"/>
              <a:ea typeface="Arial Unicode MS" pitchFamily="34" charset="-128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s-ES" altLang="es-PE" sz="2800">
                <a:latin typeface="Symbol" panose="05050102010706020507" pitchFamily="18" charset="2"/>
                <a:cs typeface="Arial" panose="020B0604020202020204" pitchFamily="34" charset="0"/>
              </a:rPr>
              <a:t>·</a:t>
            </a:r>
            <a:r>
              <a:rPr lang="es-CO" altLang="es-PE" sz="2800">
                <a:cs typeface="Times New Roman" panose="02020603050405020304" pitchFamily="18" charset="0"/>
              </a:rPr>
              <a:t> </a:t>
            </a:r>
            <a:r>
              <a:rPr lang="es-ES" altLang="es-PE" sz="2800">
                <a:latin typeface="Arial" panose="020B0604020202020204" pitchFamily="34" charset="0"/>
                <a:cs typeface="Arial" panose="020B0604020202020204" pitchFamily="34" charset="0"/>
              </a:rPr>
              <a:t>Una condición indispensable de esta aparatología es que esta debe quedar completamente suelta en boca y permitir el libre movimiento de lateralidad mandibul</a:t>
            </a:r>
            <a:r>
              <a:rPr lang="es-CO" altLang="es-PE" sz="280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endParaRPr lang="es-ES" altLang="es-PE"/>
          </a:p>
        </p:txBody>
      </p:sp>
      <p:sp>
        <p:nvSpPr>
          <p:cNvPr id="78852" name="Rectangle 6">
            <a:extLst>
              <a:ext uri="{FF2B5EF4-FFF2-40B4-BE49-F238E27FC236}">
                <a16:creationId xmlns:a16="http://schemas.microsoft.com/office/drawing/2014/main" id="{75739122-B0A7-F924-71E6-95AFA2459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CO" altLang="es-PE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0D20325B-8020-0F56-CC65-3B4F5DE57D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5813" y="285750"/>
            <a:ext cx="7772400" cy="1143000"/>
          </a:xfrm>
        </p:spPr>
        <p:txBody>
          <a:bodyPr/>
          <a:lstStyle/>
          <a:p>
            <a:pPr eaLnBrk="1" hangingPunct="1"/>
            <a:r>
              <a:rPr lang="es-CO" altLang="es-PE" sz="3600" b="1">
                <a:solidFill>
                  <a:srgbClr val="FFFF00"/>
                </a:solidFill>
              </a:rPr>
              <a:t>MANEJO E INDICACIONES</a:t>
            </a:r>
            <a:endParaRPr lang="es-ES" altLang="es-PE" sz="3600" b="1">
              <a:solidFill>
                <a:srgbClr val="FFFF00"/>
              </a:solidFill>
            </a:endParaRP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4FB478ED-9F05-6FA8-980A-F3DD7166B8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7225" y="2143125"/>
            <a:ext cx="7772400" cy="4114800"/>
          </a:xfrm>
        </p:spPr>
        <p:txBody>
          <a:bodyPr/>
          <a:lstStyle/>
          <a:p>
            <a:pPr algn="just" eaLnBrk="1" hangingPunct="1"/>
            <a:r>
              <a:rPr lang="es-ES" altLang="es-PE" sz="2400">
                <a:latin typeface="Arial" panose="020B0604020202020204" pitchFamily="34" charset="0"/>
                <a:cs typeface="Arial" panose="020B0604020202020204" pitchFamily="34" charset="0"/>
              </a:rPr>
              <a:t>Advertir al paciente sobre la fácil deformación del aparato, motivo por el cual siempre que no lo tenga en boca debe estar en la caja plástica rígida.</a:t>
            </a:r>
            <a:endParaRPr lang="es-ES" altLang="es-PE" sz="2400">
              <a:latin typeface="Arial Unicode MS" pitchFamily="34" charset="-128"/>
              <a:ea typeface="Arial Unicode MS" pitchFamily="34" charset="-128"/>
            </a:endParaRPr>
          </a:p>
          <a:p>
            <a:pPr algn="just" eaLnBrk="1" hangingPunct="1"/>
            <a:r>
              <a:rPr lang="es-ES" altLang="es-PE" sz="2400">
                <a:latin typeface="Arial" panose="020B0604020202020204" pitchFamily="34" charset="0"/>
                <a:cs typeface="Arial" panose="020B0604020202020204" pitchFamily="34" charset="0"/>
              </a:rPr>
              <a:t>En los controles verificar que no haya distorsión del aparato.</a:t>
            </a:r>
            <a:endParaRPr lang="es-CO" altLang="es-PE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/>
            <a:endParaRPr lang="es-ES" altLang="es-PE" sz="2400">
              <a:latin typeface="Arial Unicode MS" pitchFamily="34" charset="-128"/>
              <a:ea typeface="Arial Unicode MS" pitchFamily="34" charset="-128"/>
            </a:endParaRPr>
          </a:p>
          <a:p>
            <a:pPr eaLnBrk="1" hangingPunct="1"/>
            <a:r>
              <a:rPr lang="es-CO" altLang="es-PE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altLang="es-PE" sz="2400">
                <a:latin typeface="Arial" panose="020B0604020202020204" pitchFamily="34" charset="0"/>
                <a:cs typeface="Arial" panose="020B0604020202020204" pitchFamily="34" charset="0"/>
              </a:rPr>
              <a:t>En la activación se debe tener cuidado de mantener el paralelismo( realizando activaciones simultáneas en ambos lados del aparato).</a:t>
            </a:r>
            <a:r>
              <a:rPr lang="es-ES" altLang="es-PE" sz="2400"/>
              <a:t> </a:t>
            </a:r>
          </a:p>
          <a:p>
            <a:pPr eaLnBrk="1" hangingPunct="1"/>
            <a:endParaRPr lang="es-ES" altLang="es-PE" sz="2400"/>
          </a:p>
          <a:p>
            <a:pPr eaLnBrk="1" hangingPunct="1"/>
            <a:endParaRPr lang="es-ES" altLang="es-PE" sz="24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B5E43BDC-D1D0-F5CE-AC44-DE4760F623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0063" y="500063"/>
            <a:ext cx="82296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CONCLUSIONES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82A8BAD9-BEA1-0394-11F2-866D3493EF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altLang="es-PE" sz="2800">
                <a:cs typeface="Times New Roman" panose="02020603050405020304" pitchFamily="18" charset="0"/>
              </a:rPr>
              <a:t> </a:t>
            </a:r>
            <a:r>
              <a:rPr lang="es-ES" altLang="es-PE" sz="2800">
                <a:latin typeface="Arial" panose="020B0604020202020204" pitchFamily="34" charset="0"/>
                <a:cs typeface="Arial" panose="020B0604020202020204" pitchFamily="34" charset="0"/>
              </a:rPr>
              <a:t>El modelador elástico de Bimler  es un aparato bimaxilar, unido por un arco de alambre de acero que posibilita la actividad bucal natural incluidos movimientos de lateralidad y el habla para que pueda ser usado más tiempo durante el día.</a:t>
            </a:r>
            <a:endParaRPr lang="es-ES" altLang="es-PE" sz="2800">
              <a:latin typeface="Arial Unicode MS" pitchFamily="34" charset="-128"/>
              <a:ea typeface="Arial Unicode MS" pitchFamily="34" charset="-128"/>
            </a:endParaRPr>
          </a:p>
          <a:p>
            <a:pPr eaLnBrk="1" hangingPunct="1"/>
            <a:endParaRPr lang="es-ES" altLang="es-PE" sz="28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53A248A4-EC4A-4916-6BB8-0F9792B212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0063" y="428625"/>
            <a:ext cx="82296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CONCLUSIONES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759D249-52D1-1906-5775-528C374298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altLang="es-PE" sz="2800">
                <a:latin typeface="Arial" panose="020B0604020202020204" pitchFamily="34" charset="0"/>
                <a:cs typeface="Arial" panose="020B0604020202020204" pitchFamily="34" charset="0"/>
              </a:rPr>
              <a:t>La forma de acción  se dá en las tres dimensiones del espacio y basada en los cambios posturales terapéuticos.</a:t>
            </a:r>
            <a:endParaRPr lang="es-ES" altLang="es-PE" sz="2800">
              <a:latin typeface="Arial Unicode MS" pitchFamily="34" charset="-128"/>
              <a:ea typeface="Arial Unicode MS" pitchFamily="34" charset="-128"/>
            </a:endParaRPr>
          </a:p>
          <a:p>
            <a:pPr eaLnBrk="1" hangingPunct="1"/>
            <a:r>
              <a:rPr lang="es-ES" altLang="es-PE" sz="2800">
                <a:latin typeface="Arial" panose="020B0604020202020204" pitchFamily="34" charset="0"/>
                <a:cs typeface="Arial" panose="020B0604020202020204" pitchFamily="34" charset="0"/>
              </a:rPr>
              <a:t>Existen tres tipos básicos de aparatos de Bimler, cada uno con indicaciones específicas. Sin embargo, se hizo necesaria la implementación de 17 variaciones para suplir las necesidades  de tratamiento.</a:t>
            </a:r>
            <a:endParaRPr lang="es-ES" altLang="es-PE" sz="2800">
              <a:latin typeface="Arial Unicode MS" pitchFamily="34" charset="-128"/>
              <a:ea typeface="Arial Unicode MS" pitchFamily="34" charset="-128"/>
            </a:endParaRPr>
          </a:p>
          <a:p>
            <a:pPr eaLnBrk="1" hangingPunct="1"/>
            <a:endParaRPr lang="es-ES" altLang="es-PE" sz="28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61F8DD58-BC63-06FF-761A-DA9649AA2C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428625"/>
            <a:ext cx="82296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CONCLUSIONES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F619135C-7D4F-92C6-6ACF-B005C31955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altLang="es-PE">
                <a:latin typeface="Arial" panose="020B0604020202020204" pitchFamily="34" charset="0"/>
                <a:cs typeface="Arial" panose="020B0604020202020204" pitchFamily="34" charset="0"/>
              </a:rPr>
              <a:t>Se hace necesaria la manipulación y reconocimiento  del </a:t>
            </a:r>
            <a:r>
              <a:rPr lang="es-CO" altLang="es-PE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ES" altLang="es-PE">
                <a:latin typeface="Arial" panose="020B0604020202020204" pitchFamily="34" charset="0"/>
                <a:cs typeface="Arial" panose="020B0604020202020204" pitchFamily="34" charset="0"/>
              </a:rPr>
              <a:t>imler en sus tres dimensiones  para lograr entender cada una de sus propiedades y usos</a:t>
            </a:r>
            <a:r>
              <a:rPr lang="es-ES" altLang="es-PE"/>
              <a:t> 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BAFAD95C-80D5-E860-7F9F-50403F7732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8688" y="357188"/>
            <a:ext cx="7772400" cy="1143000"/>
          </a:xfrm>
        </p:spPr>
        <p:txBody>
          <a:bodyPr/>
          <a:lstStyle/>
          <a:p>
            <a:pPr eaLnBrk="1" hangingPunct="1"/>
            <a:r>
              <a:rPr lang="es-CO" altLang="es-PE" b="1">
                <a:solidFill>
                  <a:srgbClr val="FFFF00"/>
                </a:solidFill>
              </a:rPr>
              <a:t>BIBLIOGRAFÍA</a:t>
            </a:r>
            <a:endParaRPr lang="es-ES" altLang="es-PE" b="1">
              <a:solidFill>
                <a:srgbClr val="FFFF00"/>
              </a:solidFill>
            </a:endParaRP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0256AEB9-7ED0-70FB-3093-CBF6F98265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88595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ES" altLang="es-PE" sz="1600">
                <a:latin typeface="Arial" panose="020B0604020202020204" pitchFamily="34" charset="0"/>
                <a:cs typeface="Arial" panose="020B0604020202020204" pitchFamily="34" charset="0"/>
              </a:rPr>
              <a:t>BIMLER  </a:t>
            </a:r>
            <a:r>
              <a:rPr lang="es-ES" altLang="es-PE" sz="1600" i="1">
                <a:latin typeface="Arial" panose="020B0604020202020204" pitchFamily="34" charset="0"/>
                <a:cs typeface="Arial" panose="020B0604020202020204" pitchFamily="34" charset="0"/>
              </a:rPr>
              <a:t>Los modeladores elásticos y análisis cefalométrico compacto.</a:t>
            </a:r>
            <a:r>
              <a:rPr lang="es-ES" altLang="es-PE" sz="1600">
                <a:latin typeface="Arial" panose="020B0604020202020204" pitchFamily="34" charset="0"/>
                <a:cs typeface="Arial" panose="020B0604020202020204" pitchFamily="34" charset="0"/>
              </a:rPr>
              <a:t> Actualidades medico odontológicas Latinoamérica, C.A. 1993.</a:t>
            </a:r>
            <a:endParaRPr lang="es-ES" altLang="es-PE" sz="1600">
              <a:latin typeface="Arial Unicode MS" pitchFamily="34" charset="-128"/>
              <a:ea typeface="Arial Unicode MS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s-ES" altLang="es-PE" sz="1600">
                <a:latin typeface="Arial" panose="020B0604020202020204" pitchFamily="34" charset="0"/>
                <a:cs typeface="Arial" panose="020B0604020202020204" pitchFamily="34" charset="0"/>
              </a:rPr>
              <a:t> CURSO INTENSIVO DE ACTUALIZACION EN ORTOPEDIA MAXILAR. Rodriguez Ataide Eduardo, López Panqueva Eneida. CIEO 2001</a:t>
            </a:r>
          </a:p>
          <a:p>
            <a:pPr eaLnBrk="1" hangingPunct="1">
              <a:lnSpc>
                <a:spcPct val="90000"/>
              </a:lnSpc>
            </a:pPr>
            <a:r>
              <a:rPr lang="es-ES" altLang="es-PE" sz="1600">
                <a:latin typeface="Arial" panose="020B0604020202020204" pitchFamily="34" charset="0"/>
                <a:cs typeface="Arial" panose="020B0604020202020204" pitchFamily="34" charset="0"/>
              </a:rPr>
              <a:t>ORTOPEDIA FUNCIONAL DE LOS MAXILARES. Wilma Simoes. Pag 682</a:t>
            </a:r>
          </a:p>
          <a:p>
            <a:pPr eaLnBrk="1" hangingPunct="1">
              <a:lnSpc>
                <a:spcPct val="90000"/>
              </a:lnSpc>
            </a:pPr>
            <a:r>
              <a:rPr lang="es-ES" altLang="es-PE" sz="1600"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rPr>
              <a:t>ATLAS DE APARATOLOGIA  FUNCIONAL  Y APARATOLOGIA  AUXILIAR. Juan Carlos Velarde Yositomi.  2002</a:t>
            </a:r>
            <a:endParaRPr lang="es-ES" altLang="es-PE" sz="1600">
              <a:latin typeface="Arial Unicode MS" pitchFamily="34" charset="-128"/>
              <a:ea typeface="Arial Unicode MS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s-PE" sz="1600">
                <a:latin typeface="Arial Unicode MS" pitchFamily="34" charset="-128"/>
                <a:ea typeface="Arial Unicode MS" pitchFamily="34" charset="-128"/>
              </a:rPr>
              <a:t>www. Odontocat.com</a:t>
            </a:r>
            <a:endParaRPr lang="es-ES" altLang="es-PE" sz="16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2 Marcador de contenido">
            <a:extLst>
              <a:ext uri="{FF2B5EF4-FFF2-40B4-BE49-F238E27FC236}">
                <a16:creationId xmlns:a16="http://schemas.microsoft.com/office/drawing/2014/main" id="{B5D99D1F-D561-9792-6FBB-F1A99CFD0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00125"/>
            <a:ext cx="8229600" cy="5324475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endParaRPr lang="es-CO" altLang="es-PE" sz="8000">
              <a:solidFill>
                <a:srgbClr val="FFC000"/>
              </a:solidFill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s-CO" altLang="es-PE" sz="8000">
                <a:solidFill>
                  <a:srgbClr val="FFC000"/>
                </a:solidFill>
              </a:rPr>
              <a:t>    !   MUCHAS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s-CO" altLang="es-PE" sz="8000">
                <a:solidFill>
                  <a:srgbClr val="FFC000"/>
                </a:solidFill>
              </a:rPr>
              <a:t>     GRACIAS   ¡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ujo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ujo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1776</TotalTime>
  <Words>1834</Words>
  <Application>Microsoft Office PowerPoint</Application>
  <PresentationFormat>Presentación en pantalla (4:3)</PresentationFormat>
  <Paragraphs>244</Paragraphs>
  <Slides>79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79</vt:i4>
      </vt:variant>
    </vt:vector>
  </HeadingPairs>
  <TitlesOfParts>
    <vt:vector size="88" baseType="lpstr">
      <vt:lpstr>Times New Roman</vt:lpstr>
      <vt:lpstr>Arial</vt:lpstr>
      <vt:lpstr>Calibri</vt:lpstr>
      <vt:lpstr>Constantia</vt:lpstr>
      <vt:lpstr>Wingdings 2</vt:lpstr>
      <vt:lpstr>Arial Unicode MS</vt:lpstr>
      <vt:lpstr>Symbol</vt:lpstr>
      <vt:lpstr>Flujo</vt:lpstr>
      <vt:lpstr>Foto de Microsoft Photo Editor 3.0</vt:lpstr>
      <vt:lpstr>MODELADORES ELASTICOS DE BIMLER</vt:lpstr>
      <vt:lpstr>Presentación de PowerPoint</vt:lpstr>
      <vt:lpstr>HISTORIA</vt:lpstr>
      <vt:lpstr>ANOMALIA DE OCLUSION</vt:lpstr>
      <vt:lpstr>ANOMALIA DE OCLUSION</vt:lpstr>
      <vt:lpstr>GENERALIDADES</vt:lpstr>
      <vt:lpstr>GENERALIDADES</vt:lpstr>
      <vt:lpstr>GENERALIDADES</vt:lpstr>
      <vt:lpstr>FILOSOFIA</vt:lpstr>
      <vt:lpstr>FILOSOFIA</vt:lpstr>
      <vt:lpstr>FILOSOFIA</vt:lpstr>
      <vt:lpstr>FILOSOFIA</vt:lpstr>
      <vt:lpstr>FILOSOFIA</vt:lpstr>
      <vt:lpstr>Cambio Postural Terapéutico</vt:lpstr>
      <vt:lpstr>VENTAJAS</vt:lpstr>
      <vt:lpstr>VENTAJAS</vt:lpstr>
      <vt:lpstr>DESVENTAJAS</vt:lpstr>
      <vt:lpstr>MODO DE ACCIÓN</vt:lpstr>
      <vt:lpstr>SENTIDO SAGITAL</vt:lpstr>
      <vt:lpstr>SENTIDO VERTICAL</vt:lpstr>
      <vt:lpstr>SENTIDO TRANSVERSAL</vt:lpstr>
      <vt:lpstr>ACCION LINGUAL</vt:lpstr>
      <vt:lpstr>TIPOS DE APARATOS </vt:lpstr>
      <vt:lpstr>VARIACIONES DE LOS MODELADORES BASICOS</vt:lpstr>
      <vt:lpstr>BIMLER TIPO A</vt:lpstr>
      <vt:lpstr> TIPO A</vt:lpstr>
      <vt:lpstr>Presentación de PowerPoint</vt:lpstr>
      <vt:lpstr>MODO DE OBRAR DE  LOS  TIPO A</vt:lpstr>
      <vt:lpstr>A-0 APARATO SIMPLEX PARA CLASE I Y CASOS LEVES DE LA CLASE III</vt:lpstr>
      <vt:lpstr>A-0 APARATO SIMPLEX PARA CLASE I Y CASOS LEVES DEL A CLASE III</vt:lpstr>
      <vt:lpstr>A-1 APARATO ESTANDAR</vt:lpstr>
      <vt:lpstr>A-1 APARATO ESTANDAR</vt:lpstr>
      <vt:lpstr>A-2 ESPECIAL</vt:lpstr>
      <vt:lpstr>A-2 ESPECIAL</vt:lpstr>
      <vt:lpstr>A-3 APARATO HIPO (HIPOLASIA MAXILAR) </vt:lpstr>
      <vt:lpstr>A-3 APARATO HIPO (HIPOLASIA MAXILAR) </vt:lpstr>
      <vt:lpstr>A-4 EXTRA PARA CASOS DE EXTRACCION</vt:lpstr>
      <vt:lpstr>A-4 EXTRA PARA CASOS DE EXTRACCION</vt:lpstr>
      <vt:lpstr>A-5 CONTRA (PARA CASOS DE NON OCLUSION)</vt:lpstr>
      <vt:lpstr>A-5 CONTRA (PARA CASOS DE NON OCLUSION)</vt:lpstr>
      <vt:lpstr>LOS APARATOS “B” PARA CLASE II DIVISION 2</vt:lpstr>
      <vt:lpstr>Presentación de PowerPoint</vt:lpstr>
      <vt:lpstr>LOS APARATOS “B” PARA  CLASE II DIVISION 2</vt:lpstr>
      <vt:lpstr>B-2 ESPECIAL </vt:lpstr>
      <vt:lpstr>B-2 ESPECIAL </vt:lpstr>
      <vt:lpstr>B-3 HIPO</vt:lpstr>
      <vt:lpstr>B-3 HIPO</vt:lpstr>
      <vt:lpstr>B-5 CONTRA APARATO DE CONTRACCION</vt:lpstr>
      <vt:lpstr>B-5 CONTRA APARATO DE CONTRACCION</vt:lpstr>
      <vt:lpstr>BIMLER DE PROGENIE</vt:lpstr>
      <vt:lpstr>Presentación de PowerPoint</vt:lpstr>
      <vt:lpstr>C APARATOS PARA LA MORDIDA CRUZADA FRONTAL</vt:lpstr>
      <vt:lpstr>MODO DE ACCION DE LOS APARATOS C</vt:lpstr>
      <vt:lpstr>MODO DE ACCION DE LOS APARATOS C</vt:lpstr>
      <vt:lpstr>C-1 APARATO ESTANDAR</vt:lpstr>
      <vt:lpstr>C-1 APARATO ESTANDAR</vt:lpstr>
      <vt:lpstr>C-2 ESPECIAL</vt:lpstr>
      <vt:lpstr>C-2 ESPECIAL</vt:lpstr>
      <vt:lpstr>C-3 APARATO HIPO</vt:lpstr>
      <vt:lpstr>C-3 APARATO HIPO</vt:lpstr>
      <vt:lpstr>C-4 ENTRA PARA CASOS DE EXTRACCION DE LA CLASEIII</vt:lpstr>
      <vt:lpstr>C-4 ENTRA PARA CASOS DE EXTRACCION DE LA CLASEIII</vt:lpstr>
      <vt:lpstr>C-5 CONTRA PARA CASOS DE CONTRACCION </vt:lpstr>
      <vt:lpstr>C-5 CONTRA PARA CASOS DE CONTRACCION </vt:lpstr>
      <vt:lpstr>C-0 MONO PARA MORDIDAS CRUZADAS FRONTALES CORREGIDAS</vt:lpstr>
      <vt:lpstr>C-0 MONO PARA MORDIDAS CRUZADAS FRONTALES CORREGIDAS</vt:lpstr>
      <vt:lpstr>ARCOS D PARA PROTUSIONES PRONUNCIADAS</vt:lpstr>
      <vt:lpstr>ARCOS D PARA PROTUSIONES PRONUNCIADAS</vt:lpstr>
      <vt:lpstr>DA   APARATO DE BIPROTUSION</vt:lpstr>
      <vt:lpstr>DA   APARATO DE BIPROTUSION</vt:lpstr>
      <vt:lpstr>EQUIPLAN</vt:lpstr>
      <vt:lpstr>Presentación de PowerPoint</vt:lpstr>
      <vt:lpstr>MANEJO E INDICACIONES</vt:lpstr>
      <vt:lpstr>MANEJO E INDICACIONES</vt:lpstr>
      <vt:lpstr>CONCLUSIONES</vt:lpstr>
      <vt:lpstr>CONCLUSIONES</vt:lpstr>
      <vt:lpstr>CONCLUSIONES</vt:lpstr>
      <vt:lpstr>BIBLIOGRAFÍA</vt:lpstr>
      <vt:lpstr>Presentación de PowerPoint</vt:lpstr>
    </vt:vector>
  </TitlesOfParts>
  <Company>Familiar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BIMLER</dc:title>
  <dc:creator>Janneth Porras</dc:creator>
  <cp:lastModifiedBy>Frank Espinoza</cp:lastModifiedBy>
  <cp:revision>102</cp:revision>
  <dcterms:created xsi:type="dcterms:W3CDTF">2005-02-19T03:21:38Z</dcterms:created>
  <dcterms:modified xsi:type="dcterms:W3CDTF">2026-07-16T22:24:29Z</dcterms:modified>
</cp:coreProperties>
</file>